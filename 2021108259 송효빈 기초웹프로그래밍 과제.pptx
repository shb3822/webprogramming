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7" r:id="rId9"/>
    <p:sldId id="263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481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438705" y="685800"/>
            <a:ext cx="19202" cy="19202"/>
          </a:xfrm>
          <a:prstGeom prst="ellipse">
            <a:avLst/>
          </a:prstGeom>
          <a:solidFill>
            <a:srgbClr val="FFFFFF">
              <a:alpha val="6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753905" y="1028700"/>
            <a:ext cx="28346" cy="2834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8895" y="2743200"/>
            <a:ext cx="19202" cy="19202"/>
          </a:xfrm>
          <a:prstGeom prst="ellipse">
            <a:avLst/>
          </a:prstGeom>
          <a:solidFill>
            <a:srgbClr val="FFFFFF">
              <a:alpha val="7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48006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6305" y="1714500"/>
            <a:ext cx="9144" cy="9144"/>
          </a:xfrm>
          <a:prstGeom prst="ellipse">
            <a:avLst/>
          </a:prstGeom>
          <a:solidFill>
            <a:srgbClr val="FFFFFF">
              <a:alpha val="5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28346" cy="2834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0" y="5829300"/>
            <a:ext cx="19202" cy="19202"/>
          </a:xfrm>
          <a:prstGeom prst="ellipse">
            <a:avLst/>
          </a:prstGeom>
          <a:solidFill>
            <a:srgbClr val="FFFFFF">
              <a:alpha val="6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905" y="342900"/>
            <a:ext cx="28346" cy="28346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972800" y="6172200"/>
            <a:ext cx="9144" cy="9144"/>
          </a:xfrm>
          <a:prstGeom prst="ellipse">
            <a:avLst/>
          </a:prstGeom>
          <a:solidFill>
            <a:srgbClr val="FFFFFF">
              <a:alpha val="7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46720" y="2263140"/>
            <a:ext cx="19202" cy="19202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-2139696" y="5814670"/>
            <a:ext cx="16478402" cy="1533449"/>
          </a:xfrm>
          <a:prstGeom prst="rect">
            <a:avLst/>
          </a:prstGeom>
          <a:noFill/>
          <a:ln w="12700">
            <a:solidFill>
              <a:srgbClr val="BD0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51560" y="5817413"/>
            <a:ext cx="694944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555394" y="5817413"/>
            <a:ext cx="676656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060143" y="5817413"/>
            <a:ext cx="657454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564892" y="5817413"/>
            <a:ext cx="638251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068726" y="5817413"/>
            <a:ext cx="609905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573475" y="5817413"/>
            <a:ext cx="590702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078224" y="5817413"/>
            <a:ext cx="571500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582058" y="5817413"/>
            <a:ext cx="552298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086807" y="5817413"/>
            <a:ext cx="533095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591556" y="5817413"/>
            <a:ext cx="504749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096305" y="5817413"/>
            <a:ext cx="504749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580022" y="5817413"/>
            <a:ext cx="533095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063740" y="5817413"/>
            <a:ext cx="552298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547458" y="5817413"/>
            <a:ext cx="571500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031175" y="5817413"/>
            <a:ext cx="590702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514893" y="5817413"/>
            <a:ext cx="609905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998610" y="5817413"/>
            <a:ext cx="638251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9482328" y="5817413"/>
            <a:ext cx="657454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9966046" y="5817413"/>
            <a:ext cx="676656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449763" y="5817413"/>
            <a:ext cx="694944" cy="95098"/>
          </a:xfrm>
          <a:prstGeom prst="rect">
            <a:avLst/>
          </a:prstGeom>
          <a:noFill/>
          <a:ln w="12700">
            <a:solidFill>
              <a:srgbClr val="BD00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486607" y="942746"/>
            <a:ext cx="5219395" cy="3467405"/>
          </a:xfrm>
          <a:prstGeom prst="roundRect">
            <a:avLst>
              <a:gd name="adj" fmla="val 580"/>
            </a:avLst>
          </a:prstGeom>
          <a:solidFill>
            <a:srgbClr val="000000">
              <a:alpha val="60000"/>
            </a:srgbClr>
          </a:solidFill>
          <a:ln w="50800">
            <a:solidFill>
              <a:srgbClr val="EC4899"/>
            </a:solidFill>
            <a:prstDash val="solid"/>
          </a:ln>
          <a:effectLst>
            <a:outerShdw blurRad="254000" dist="12700" dir="2700000" algn="bl" rotWithShape="0">
              <a:srgbClr val="FF00DE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4556455" y="1399946"/>
            <a:ext cx="3771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SPACE</a:t>
            </a:r>
            <a:endParaRPr lang="en-US" sz="7200" dirty="0"/>
          </a:p>
        </p:txBody>
      </p:sp>
      <p:sp>
        <p:nvSpPr>
          <p:cNvPr id="37" name="Text 35"/>
          <p:cNvSpPr txBox="1"/>
          <p:nvPr/>
        </p:nvSpPr>
        <p:spPr>
          <a:xfrm>
            <a:off x="3829507" y="2542946"/>
            <a:ext cx="52203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SHOOTER</a:t>
            </a:r>
            <a:endParaRPr lang="en-US" sz="7200" dirty="0"/>
          </a:p>
        </p:txBody>
      </p:sp>
      <p:sp>
        <p:nvSpPr>
          <p:cNvPr id="38" name="Text 36"/>
          <p:cNvSpPr txBox="1"/>
          <p:nvPr/>
        </p:nvSpPr>
        <p:spPr>
          <a:xfrm>
            <a:off x="4723790" y="3685946"/>
            <a:ext cx="296722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 RETRO STYLE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4028846" y="4886554"/>
            <a:ext cx="5102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GENRE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3371393" y="5115154"/>
            <a:ext cx="1867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Arcade Shooting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924398" y="4886554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695798" y="5115154"/>
            <a:ext cx="1410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JS + Canvas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872070" y="4886554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PLATFORM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563002" y="5115154"/>
            <a:ext cx="1410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Web Browser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4398264" y="6096305"/>
            <a:ext cx="3529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96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PRESS START TO BEGIN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438705" y="6858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753905" y="1028700"/>
            <a:ext cx="28346" cy="2834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8895" y="2743200"/>
            <a:ext cx="19202" cy="19202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4800600"/>
            <a:ext cx="19202" cy="19202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6305" y="1714500"/>
            <a:ext cx="9144" cy="9144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28346" cy="2834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0" y="58293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905" y="342900"/>
            <a:ext cx="28346" cy="28346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972800" y="6172200"/>
            <a:ext cx="9144" cy="9144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46720" y="2263140"/>
            <a:ext cx="19202" cy="1920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0" y="822960"/>
            <a:ext cx="19202" cy="19202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828800" y="3771900"/>
            <a:ext cx="28346" cy="28346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267505" y="5349240"/>
            <a:ext cx="9144" cy="9144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10010851" y="4828946"/>
            <a:ext cx="1723644" cy="172364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57200" y="1333195"/>
            <a:ext cx="11277295" cy="19202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457200" y="724205"/>
            <a:ext cx="6277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게임 개요 Game Overview</a:t>
            </a:r>
            <a:endParaRPr lang="en-US" sz="3600" dirty="0"/>
          </a:p>
        </p:txBody>
      </p:sp>
      <p:sp>
        <p:nvSpPr>
          <p:cNvPr id="21" name="Shape 18"/>
          <p:cNvSpPr/>
          <p:nvPr/>
        </p:nvSpPr>
        <p:spPr>
          <a:xfrm>
            <a:off x="457200" y="1733702"/>
            <a:ext cx="5486400" cy="2048256"/>
          </a:xfrm>
          <a:prstGeom prst="roundRect">
            <a:avLst>
              <a:gd name="adj" fmla="val 1661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34D399"/>
            </a:solidFill>
            <a:prstDash val="solid"/>
          </a:ln>
          <a:effectLst>
            <a:outerShdw blurRad="127000" dist="12700" dir="2700000" algn="bl" rotWithShape="0">
              <a:srgbClr val="34D399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705002" y="198150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000000">
              <a:alpha val="50000"/>
            </a:srgbClr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-27" r="-27"/>
          <a:stretch/>
        </p:blipFill>
        <p:spPr>
          <a:xfrm>
            <a:off x="871423" y="2190902"/>
            <a:ext cx="428854" cy="3429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248095" y="1733702"/>
            <a:ext cx="5486400" cy="2048256"/>
          </a:xfrm>
          <a:prstGeom prst="roundRect">
            <a:avLst>
              <a:gd name="adj" fmla="val 1661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FFFFFF"/>
            </a:solidFill>
            <a:prstDash val="solid"/>
          </a:ln>
          <a:effectLst>
            <a:outerShdw blurRad="127000" dist="12700" dir="27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6495898" y="198150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000000">
              <a:alpha val="50000"/>
            </a:srgbClr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6748272" y="2190902"/>
            <a:ext cx="256946" cy="3429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57200" y="4086454"/>
            <a:ext cx="5486400" cy="2314346"/>
          </a:xfrm>
          <a:prstGeom prst="roundRect">
            <a:avLst>
              <a:gd name="adj" fmla="val 1301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EC4899"/>
            </a:solidFill>
            <a:prstDash val="solid"/>
          </a:ln>
          <a:effectLst>
            <a:outerShdw blurRad="127000" dist="12700" dir="2700000" algn="bl" rotWithShape="0">
              <a:srgbClr val="EC4899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705002" y="4334256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000000">
              <a:alpha val="50000"/>
            </a:srgbClr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l="-607" r="-607"/>
          <a:stretch/>
        </p:blipFill>
        <p:spPr>
          <a:xfrm>
            <a:off x="890626" y="4543654"/>
            <a:ext cx="390449" cy="3429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695298" y="2357323"/>
            <a:ext cx="1095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9FF1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GENRE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1695298" y="2710282"/>
            <a:ext cx="20336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아케이드 슈팅 &amp; 픽셀 아트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1695298" y="3004718"/>
            <a:ext cx="2576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 레트로 스타일의 고전적인 우주 전쟁 감성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7487107" y="2357323"/>
            <a:ext cx="1666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FF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PLATFORM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7487107" y="2710282"/>
            <a:ext cx="1767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HTML5 Canvas + JS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7487107" y="3004718"/>
            <a:ext cx="2948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브라우저 실행 (설치 불필요), 크로스 플랫폼 지원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1695298" y="4710074"/>
            <a:ext cx="2429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00DE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KEY FEATURES</a:t>
            </a:r>
            <a:endParaRPr lang="en-US" sz="15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1695298" y="5100523"/>
            <a:ext cx="95098" cy="15270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867205" y="5052974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스테이지 모드 + 보스전</a:t>
            </a:r>
            <a:endParaRPr lang="en-US" sz="12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1695298" y="5367528"/>
            <a:ext cx="95098" cy="15270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867205" y="5319979"/>
            <a:ext cx="2162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무한 모드 (Endless Challenge)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" y="0"/>
            <a:ext cx="12191695" cy="6858000"/>
          </a:xfrm>
          <a:prstGeom prst="rect">
            <a:avLst/>
          </a:prstGeom>
          <a:solidFill>
            <a:srgbClr val="0505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438705" y="6858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753905" y="1028700"/>
            <a:ext cx="28346" cy="2834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8895" y="2743200"/>
            <a:ext cx="19202" cy="19202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4800600"/>
            <a:ext cx="19202" cy="19202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6305" y="1714500"/>
            <a:ext cx="9144" cy="9144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28346" cy="2834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0" y="58293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905" y="342900"/>
            <a:ext cx="28346" cy="28346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972800" y="6172200"/>
            <a:ext cx="9144" cy="9144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46720" y="2263140"/>
            <a:ext cx="19202" cy="1920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30000" y="10671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620195" y="106710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457200" y="724205"/>
            <a:ext cx="6954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게임 모드 Mode Comparison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11183112" y="101041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4444">
              <a:alpha val="1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1485900"/>
            <a:ext cx="5486400" cy="5277002"/>
          </a:xfrm>
          <a:prstGeom prst="roundRect">
            <a:avLst>
              <a:gd name="adj" fmla="val 375"/>
            </a:avLst>
          </a:prstGeom>
          <a:solidFill>
            <a:srgbClr val="140014">
              <a:alpha val="70000"/>
            </a:srgbClr>
          </a:solidFill>
          <a:ln w="38100">
            <a:solidFill>
              <a:srgbClr val="FF00DE"/>
            </a:solidFill>
            <a:prstDash val="solid"/>
          </a:ln>
          <a:effectLst>
            <a:outerShdw blurRad="190500" dist="12700" dir="2700000" algn="bl" rotWithShape="0">
              <a:srgbClr val="FF00DE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90956" y="3571646"/>
            <a:ext cx="4819802" cy="800100"/>
          </a:xfrm>
          <a:prstGeom prst="roundRect">
            <a:avLst>
              <a:gd name="adj" fmla="val 5442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90956" y="3571646"/>
            <a:ext cx="38405" cy="8001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981151" y="3762756"/>
            <a:ext cx="171907" cy="15270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228954" y="3724351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웨이브 진행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90956" y="4600346"/>
            <a:ext cx="4819802" cy="800100"/>
          </a:xfrm>
          <a:prstGeom prst="roundRect">
            <a:avLst>
              <a:gd name="adj" fmla="val 5442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790956" y="4600346"/>
            <a:ext cx="38405" cy="8001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81151" y="4791456"/>
            <a:ext cx="152705" cy="152705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209751" y="4753051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보스전 (Wave 4)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790956" y="5629046"/>
            <a:ext cx="4819802" cy="800100"/>
          </a:xfrm>
          <a:prstGeom prst="roundRect">
            <a:avLst>
              <a:gd name="adj" fmla="val 5442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790956" y="5629046"/>
            <a:ext cx="38405" cy="8001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81151" y="5820156"/>
            <a:ext cx="152705" cy="15270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209751" y="5781751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목표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2057400" y="2734056"/>
            <a:ext cx="245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00DE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STAGE MODE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2360066" y="3095244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MISSION CLEAR TYPE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209751" y="4028846"/>
            <a:ext cx="3805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웨이브 1~3 동안 일반, 지그재그, 돌진 적들이 랜덤하게 섞여서 등장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209751" y="5057546"/>
            <a:ext cx="4005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"BOSS INCOMING!" 경고와 함께 보스 등장. 처치 시 클리어 보상 지급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1209751" y="6086246"/>
            <a:ext cx="2662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보스를 격파하고 엔딩(Game Clear)을 보는 것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2948026" y="1819656"/>
            <a:ext cx="504749" cy="647395"/>
          </a:xfrm>
          <a:prstGeom prst="roundRect">
            <a:avLst>
              <a:gd name="adj" fmla="val 181159"/>
            </a:avLst>
          </a:prstGeom>
          <a:solidFill>
            <a:srgbClr val="EC4899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rcRect l="-469" r="-469"/>
          <a:stretch/>
        </p:blipFill>
        <p:spPr>
          <a:xfrm>
            <a:off x="2948026" y="1819656"/>
            <a:ext cx="504749" cy="571500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6248095" y="1485900"/>
            <a:ext cx="5486400" cy="5277002"/>
          </a:xfrm>
          <a:prstGeom prst="roundRect">
            <a:avLst>
              <a:gd name="adj" fmla="val 375"/>
            </a:avLst>
          </a:prstGeom>
          <a:solidFill>
            <a:srgbClr val="001414">
              <a:alpha val="70000"/>
            </a:srgbClr>
          </a:solidFill>
          <a:ln w="38100">
            <a:solidFill>
              <a:srgbClr val="00FFFF"/>
            </a:solidFill>
            <a:prstDash val="solid"/>
          </a:ln>
          <a:effectLst>
            <a:outerShdw blurRad="190500" dist="12700" dir="2700000" algn="bl" rotWithShape="0">
              <a:srgbClr val="00FFFF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6581851" y="3571646"/>
            <a:ext cx="4819802" cy="800100"/>
          </a:xfrm>
          <a:prstGeom prst="roundRect">
            <a:avLst>
              <a:gd name="adj" fmla="val 5442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4"/>
          <p:cNvSpPr/>
          <p:nvPr/>
        </p:nvSpPr>
        <p:spPr>
          <a:xfrm>
            <a:off x="6581851" y="3571646"/>
            <a:ext cx="38405" cy="8001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72046" y="3762756"/>
            <a:ext cx="152705" cy="15270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000646" y="3724351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무한 웨이브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6581851" y="4600346"/>
            <a:ext cx="4819802" cy="800100"/>
          </a:xfrm>
          <a:prstGeom prst="roundRect">
            <a:avLst>
              <a:gd name="adj" fmla="val 5442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7"/>
          <p:cNvSpPr/>
          <p:nvPr/>
        </p:nvSpPr>
        <p:spPr>
          <a:xfrm>
            <a:off x="6581851" y="4600346"/>
            <a:ext cx="38405" cy="8001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72046" y="4791456"/>
            <a:ext cx="152705" cy="15270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7000646" y="4753051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난이도 상승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6581851" y="5629046"/>
            <a:ext cx="4819802" cy="800100"/>
          </a:xfrm>
          <a:prstGeom prst="roundRect">
            <a:avLst>
              <a:gd name="adj" fmla="val 5442"/>
            </a:avLst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0"/>
          <p:cNvSpPr/>
          <p:nvPr/>
        </p:nvSpPr>
        <p:spPr>
          <a:xfrm>
            <a:off x="6581851" y="5629046"/>
            <a:ext cx="38405" cy="8001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6772046" y="5820156"/>
            <a:ext cx="171907" cy="15270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7019849" y="5781751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목표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7619695" y="2734056"/>
            <a:ext cx="2915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FF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ENDLESS MODE</a:t>
            </a:r>
            <a:endParaRPr lang="en-US" sz="1800" dirty="0"/>
          </a:p>
        </p:txBody>
      </p:sp>
      <p:sp>
        <p:nvSpPr>
          <p:cNvPr id="52" name="Text 43"/>
          <p:cNvSpPr txBox="1"/>
          <p:nvPr/>
        </p:nvSpPr>
        <p:spPr>
          <a:xfrm>
            <a:off x="8385048" y="3095244"/>
            <a:ext cx="13194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SURVIVAL TYPE</a:t>
            </a:r>
            <a:endParaRPr lang="en-US" sz="1000" dirty="0"/>
          </a:p>
        </p:txBody>
      </p:sp>
      <p:sp>
        <p:nvSpPr>
          <p:cNvPr id="53" name="Text 44"/>
          <p:cNvSpPr txBox="1"/>
          <p:nvPr/>
        </p:nvSpPr>
        <p:spPr>
          <a:xfrm>
            <a:off x="7000646" y="4028846"/>
            <a:ext cx="3948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등장 없이 적들이 끝없이 쏟아지는 모드. 어디까지 버티는지 도전.</a:t>
            </a:r>
            <a:endParaRPr lang="en-US" sz="1000" dirty="0"/>
          </a:p>
        </p:txBody>
      </p:sp>
      <p:sp>
        <p:nvSpPr>
          <p:cNvPr id="54" name="Text 45"/>
          <p:cNvSpPr txBox="1"/>
          <p:nvPr/>
        </p:nvSpPr>
        <p:spPr>
          <a:xfrm>
            <a:off x="7000646" y="5057546"/>
            <a:ext cx="3339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웨이브가 오를수록 적 스폰 수 증가, 속도 및 발사 빈도 상승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7000646" y="6086246"/>
            <a:ext cx="3033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웨이브 도달 및 하이스코어 갱신 (리더보드 경쟁)</a:t>
            </a:r>
            <a:endParaRPr lang="en-US" sz="1000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10"/>
          <a:srcRect t="-16" b="-16"/>
          <a:stretch/>
        </p:blipFill>
        <p:spPr>
          <a:xfrm>
            <a:off x="8634679" y="1819656"/>
            <a:ext cx="714146" cy="571500"/>
          </a:xfrm>
          <a:prstGeom prst="rect">
            <a:avLst/>
          </a:prstGeom>
        </p:spPr>
      </p:pic>
      <p:sp>
        <p:nvSpPr>
          <p:cNvPr id="57" name="Shape 47"/>
          <p:cNvSpPr/>
          <p:nvPr/>
        </p:nvSpPr>
        <p:spPr>
          <a:xfrm>
            <a:off x="5639105" y="3771900"/>
            <a:ext cx="914400" cy="705002"/>
          </a:xfrm>
          <a:prstGeom prst="rect">
            <a:avLst/>
          </a:prstGeom>
          <a:solidFill>
            <a:srgbClr val="FFFFFF"/>
          </a:solidFill>
          <a:ln w="50800">
            <a:solidFill>
              <a:srgbClr val="050510"/>
            </a:solidFill>
            <a:prstDash val="solid"/>
          </a:ln>
          <a:effectLst>
            <a:outerShdw blurRad="12700" dist="63500" dir="2700000" algn="bl" rotWithShape="0">
              <a:srgbClr val="FF00DE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8"/>
          <p:cNvSpPr txBox="1"/>
          <p:nvPr/>
        </p:nvSpPr>
        <p:spPr>
          <a:xfrm>
            <a:off x="5851246" y="3972154"/>
            <a:ext cx="667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5051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VS</a:t>
            </a:r>
            <a:endParaRPr lang="en-US" sz="1800" dirty="0"/>
          </a:p>
        </p:txBody>
      </p:sp>
      <p:sp>
        <p:nvSpPr>
          <p:cNvPr id="59" name="Text 49"/>
          <p:cNvSpPr txBox="1"/>
          <p:nvPr/>
        </p:nvSpPr>
        <p:spPr>
          <a:xfrm>
            <a:off x="3969410" y="7000646"/>
            <a:ext cx="4343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* 모드 선택 화면에서 원하는 플레이 스타일을 선택하여 시작할 수 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438705" y="6858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753905" y="1028700"/>
            <a:ext cx="28346" cy="2834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8895" y="2743200"/>
            <a:ext cx="19202" cy="19202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4800600"/>
            <a:ext cx="19202" cy="19202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6305" y="1714500"/>
            <a:ext cx="9144" cy="9144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28346" cy="2834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0" y="58293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905" y="342900"/>
            <a:ext cx="28346" cy="28346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972800" y="6172200"/>
            <a:ext cx="9144" cy="9144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46720" y="2263140"/>
            <a:ext cx="19202" cy="1920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57200" y="724205"/>
            <a:ext cx="7620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플레이어 기체 Choose Your Ship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457200" y="1485900"/>
            <a:ext cx="3562502" cy="4828946"/>
          </a:xfrm>
          <a:prstGeom prst="roundRect">
            <a:avLst>
              <a:gd name="adj" fmla="val 824"/>
            </a:avLst>
          </a:prstGeom>
          <a:solidFill>
            <a:srgbClr val="0A0A14">
              <a:alpha val="80000"/>
            </a:srgbClr>
          </a:solidFill>
          <a:ln w="25400">
            <a:solidFill>
              <a:srgbClr val="39FF14"/>
            </a:solidFill>
            <a:prstDash val="solid"/>
          </a:ln>
          <a:effectLst>
            <a:outerShdw blurRad="139700" dist="12700" dir="16200000" algn="bl" rotWithShape="0">
              <a:srgbClr val="39FF14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317797" y="1485900"/>
            <a:ext cx="3562502" cy="4828946"/>
          </a:xfrm>
          <a:prstGeom prst="roundRect">
            <a:avLst>
              <a:gd name="adj" fmla="val 824"/>
            </a:avLst>
          </a:prstGeom>
          <a:solidFill>
            <a:srgbClr val="0A0A14">
              <a:alpha val="80000"/>
            </a:srgbClr>
          </a:solidFill>
          <a:ln w="25400">
            <a:solidFill>
              <a:srgbClr val="00FFFF"/>
            </a:solidFill>
            <a:prstDash val="solid"/>
          </a:ln>
          <a:effectLst>
            <a:outerShdw blurRad="139700" dist="12700" dir="16200000" algn="bl" rotWithShape="0">
              <a:srgbClr val="00FFF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178394" y="1485900"/>
            <a:ext cx="3562502" cy="4828946"/>
          </a:xfrm>
          <a:prstGeom prst="roundRect">
            <a:avLst>
              <a:gd name="adj" fmla="val 824"/>
            </a:avLst>
          </a:prstGeom>
          <a:solidFill>
            <a:srgbClr val="0A0A14">
              <a:alpha val="80000"/>
            </a:srgbClr>
          </a:solidFill>
          <a:ln w="25400">
            <a:solidFill>
              <a:srgbClr val="FF00DE"/>
            </a:solidFill>
            <a:prstDash val="solid"/>
          </a:ln>
          <a:effectLst>
            <a:outerShdw blurRad="139700" dist="12700" dir="16200000" algn="bl" rotWithShape="0">
              <a:srgbClr val="FF00D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1371600" y="3877056"/>
            <a:ext cx="2400300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1371600" y="3877056"/>
            <a:ext cx="1438351" cy="75895"/>
          </a:xfrm>
          <a:prstGeom prst="roundRect">
            <a:avLst>
              <a:gd name="adj" fmla="val 301206"/>
            </a:avLst>
          </a:prstGeom>
          <a:solidFill>
            <a:srgbClr val="39FF14"/>
          </a:solidFill>
          <a:ln/>
          <a:effectLst>
            <a:outerShdw blurRad="50800" dist="12700" dir="16200000" algn="bl" rotWithShape="0">
              <a:srgbClr val="39FF14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1371600" y="4123944"/>
            <a:ext cx="2400300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1371600" y="4123944"/>
            <a:ext cx="1438351" cy="75895"/>
          </a:xfrm>
          <a:prstGeom prst="roundRect">
            <a:avLst>
              <a:gd name="adj" fmla="val 301206"/>
            </a:avLst>
          </a:prstGeom>
          <a:solidFill>
            <a:srgbClr val="39FF14"/>
          </a:solidFill>
          <a:ln/>
          <a:effectLst>
            <a:outerShdw blurRad="50800" dist="12700" dir="16200000" algn="bl" rotWithShape="0">
              <a:srgbClr val="39FF14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1371600" y="4371746"/>
            <a:ext cx="2400300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1371600" y="4371746"/>
            <a:ext cx="1200607" cy="75895"/>
          </a:xfrm>
          <a:prstGeom prst="roundRect">
            <a:avLst>
              <a:gd name="adj" fmla="val 301206"/>
            </a:avLst>
          </a:prstGeom>
          <a:solidFill>
            <a:srgbClr val="39FF14"/>
          </a:solidFill>
          <a:ln/>
          <a:effectLst>
            <a:outerShdw blurRad="50800" dist="12700" dir="16200000" algn="bl" rotWithShape="0">
              <a:srgbClr val="39FF14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705002" y="4800600"/>
            <a:ext cx="3066898" cy="1057046"/>
          </a:xfrm>
          <a:prstGeom prst="roundRect">
            <a:avLst>
              <a:gd name="adj" fmla="val 3117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1473098" y="3143707"/>
            <a:ext cx="1666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9FF1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BALANCED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640434" y="3457346"/>
            <a:ext cx="12765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TYPE-A: STANDARD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05002" y="3857854"/>
            <a:ext cx="667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SPEED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705002" y="4105656"/>
            <a:ext cx="667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POWER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705002" y="4352544"/>
            <a:ext cx="667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RAPID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66851" y="4972507"/>
            <a:ext cx="270113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 가장 기본적인 기체. 이동속도와 공격력이 균형 잡혀 있어 초보자에게 추천.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66851" y="5481828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공격: 전방 직선 단발 사격.</a:t>
            </a:r>
            <a:endParaRPr lang="en-US" sz="10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rcRect t="-28055" b="-28055"/>
          <a:stretch/>
        </p:blipFill>
        <p:spPr>
          <a:xfrm>
            <a:off x="1930298" y="1962302"/>
            <a:ext cx="609905" cy="761695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5232197" y="3877056"/>
            <a:ext cx="2400300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5232197" y="3877056"/>
            <a:ext cx="2276856" cy="75895"/>
          </a:xfrm>
          <a:prstGeom prst="roundRect">
            <a:avLst>
              <a:gd name="adj" fmla="val 301206"/>
            </a:avLst>
          </a:prstGeom>
          <a:solidFill>
            <a:srgbClr val="00FFFF"/>
          </a:solidFill>
          <a:ln/>
          <a:effectLst>
            <a:outerShdw blurRad="50800" dist="12700" dir="16200000" algn="bl" rotWithShape="0">
              <a:srgbClr val="00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3"/>
          <p:cNvSpPr/>
          <p:nvPr/>
        </p:nvSpPr>
        <p:spPr>
          <a:xfrm>
            <a:off x="5232197" y="4123944"/>
            <a:ext cx="2400300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4"/>
          <p:cNvSpPr/>
          <p:nvPr/>
        </p:nvSpPr>
        <p:spPr>
          <a:xfrm>
            <a:off x="5232197" y="4123944"/>
            <a:ext cx="961949" cy="75895"/>
          </a:xfrm>
          <a:prstGeom prst="roundRect">
            <a:avLst>
              <a:gd name="adj" fmla="val 301206"/>
            </a:avLst>
          </a:prstGeom>
          <a:solidFill>
            <a:srgbClr val="00FFFF"/>
          </a:solidFill>
          <a:ln/>
          <a:effectLst>
            <a:outerShdw blurRad="50800" dist="12700" dir="16200000" algn="bl" rotWithShape="0">
              <a:srgbClr val="00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5"/>
          <p:cNvSpPr/>
          <p:nvPr/>
        </p:nvSpPr>
        <p:spPr>
          <a:xfrm>
            <a:off x="5232197" y="4371746"/>
            <a:ext cx="2400300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6"/>
          <p:cNvSpPr/>
          <p:nvPr/>
        </p:nvSpPr>
        <p:spPr>
          <a:xfrm>
            <a:off x="5232197" y="4371746"/>
            <a:ext cx="1923898" cy="75895"/>
          </a:xfrm>
          <a:prstGeom prst="roundRect">
            <a:avLst>
              <a:gd name="adj" fmla="val 301206"/>
            </a:avLst>
          </a:prstGeom>
          <a:solidFill>
            <a:srgbClr val="00FFFF"/>
          </a:solidFill>
          <a:ln/>
          <a:effectLst>
            <a:outerShdw blurRad="50800" dist="12700" dir="16200000" algn="bl" rotWithShape="0">
              <a:srgbClr val="00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7"/>
          <p:cNvSpPr/>
          <p:nvPr/>
        </p:nvSpPr>
        <p:spPr>
          <a:xfrm>
            <a:off x="4565599" y="4800600"/>
            <a:ext cx="3066898" cy="1266444"/>
          </a:xfrm>
          <a:prstGeom prst="roundRect">
            <a:avLst>
              <a:gd name="adj" fmla="val 2171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8"/>
          <p:cNvSpPr txBox="1"/>
          <p:nvPr/>
        </p:nvSpPr>
        <p:spPr>
          <a:xfrm>
            <a:off x="5619902" y="3143707"/>
            <a:ext cx="1095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FF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SPEED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5315407" y="3457346"/>
            <a:ext cx="1648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TYPE-B: HIGH MOBILITY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4565599" y="3857854"/>
            <a:ext cx="667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SPEED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4565599" y="4105656"/>
            <a:ext cx="667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POWER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4565599" y="4352544"/>
            <a:ext cx="667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RAPID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4727448" y="4972507"/>
            <a:ext cx="282458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 매우 빠른 이동속도로 적의 탄막을 정밀하게 회피 가능.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4727448" y="5481828"/>
            <a:ext cx="270113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공격: 데미지는 낮지만 연사 속도가 빠른 속사형 레이저.</a:t>
            </a:r>
            <a:endParaRPr lang="en-US" sz="1000" dirty="0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2879" y="1910182"/>
            <a:ext cx="866851" cy="866851"/>
          </a:xfrm>
          <a:prstGeom prst="rect">
            <a:avLst/>
          </a:prstGeom>
        </p:spPr>
      </p:pic>
      <p:sp>
        <p:nvSpPr>
          <p:cNvPr id="50" name="Shape 45"/>
          <p:cNvSpPr/>
          <p:nvPr/>
        </p:nvSpPr>
        <p:spPr>
          <a:xfrm>
            <a:off x="9092794" y="3877056"/>
            <a:ext cx="2400300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6"/>
          <p:cNvSpPr/>
          <p:nvPr/>
        </p:nvSpPr>
        <p:spPr>
          <a:xfrm>
            <a:off x="9092794" y="3877056"/>
            <a:ext cx="724205" cy="75895"/>
          </a:xfrm>
          <a:prstGeom prst="roundRect">
            <a:avLst>
              <a:gd name="adj" fmla="val 301206"/>
            </a:avLst>
          </a:prstGeom>
          <a:solidFill>
            <a:srgbClr val="FF00DE"/>
          </a:solidFill>
          <a:ln/>
          <a:effectLst>
            <a:outerShdw blurRad="50800" dist="12700" dir="16200000" algn="bl" rotWithShape="0">
              <a:srgbClr val="FF00DE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7"/>
          <p:cNvSpPr/>
          <p:nvPr/>
        </p:nvSpPr>
        <p:spPr>
          <a:xfrm>
            <a:off x="9092794" y="4123944"/>
            <a:ext cx="2400300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8"/>
          <p:cNvSpPr/>
          <p:nvPr/>
        </p:nvSpPr>
        <p:spPr>
          <a:xfrm>
            <a:off x="9092794" y="4123944"/>
            <a:ext cx="1923898" cy="75895"/>
          </a:xfrm>
          <a:prstGeom prst="roundRect">
            <a:avLst>
              <a:gd name="adj" fmla="val 301206"/>
            </a:avLst>
          </a:prstGeom>
          <a:solidFill>
            <a:srgbClr val="FF00DE"/>
          </a:solidFill>
          <a:ln/>
          <a:effectLst>
            <a:outerShdw blurRad="50800" dist="12700" dir="16200000" algn="bl" rotWithShape="0">
              <a:srgbClr val="FF00DE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9"/>
          <p:cNvSpPr/>
          <p:nvPr/>
        </p:nvSpPr>
        <p:spPr>
          <a:xfrm>
            <a:off x="9092794" y="4371746"/>
            <a:ext cx="2400300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0"/>
          <p:cNvSpPr/>
          <p:nvPr/>
        </p:nvSpPr>
        <p:spPr>
          <a:xfrm>
            <a:off x="9092794" y="4371746"/>
            <a:ext cx="961949" cy="75895"/>
          </a:xfrm>
          <a:prstGeom prst="roundRect">
            <a:avLst>
              <a:gd name="adj" fmla="val 301206"/>
            </a:avLst>
          </a:prstGeom>
          <a:solidFill>
            <a:srgbClr val="FF00DE"/>
          </a:solidFill>
          <a:ln/>
          <a:effectLst>
            <a:outerShdw blurRad="50800" dist="12700" dir="16200000" algn="bl" rotWithShape="0">
              <a:srgbClr val="FF00DE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1"/>
          <p:cNvSpPr/>
          <p:nvPr/>
        </p:nvSpPr>
        <p:spPr>
          <a:xfrm>
            <a:off x="8426196" y="4800600"/>
            <a:ext cx="3066898" cy="1057046"/>
          </a:xfrm>
          <a:prstGeom prst="roundRect">
            <a:avLst>
              <a:gd name="adj" fmla="val 3117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2"/>
          <p:cNvSpPr txBox="1"/>
          <p:nvPr/>
        </p:nvSpPr>
        <p:spPr>
          <a:xfrm>
            <a:off x="9385402" y="3143707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00DE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SPREAD</a:t>
            </a:r>
            <a:endParaRPr lang="en-US" sz="1500" dirty="0"/>
          </a:p>
        </p:txBody>
      </p:sp>
      <p:sp>
        <p:nvSpPr>
          <p:cNvPr id="58" name="Text 53"/>
          <p:cNvSpPr txBox="1"/>
          <p:nvPr/>
        </p:nvSpPr>
        <p:spPr>
          <a:xfrm>
            <a:off x="9287561" y="3457346"/>
            <a:ext cx="14292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TYPE-C: WIDE RANGE</a:t>
            </a:r>
            <a:endParaRPr lang="en-US" sz="900" dirty="0"/>
          </a:p>
        </p:txBody>
      </p:sp>
      <p:sp>
        <p:nvSpPr>
          <p:cNvPr id="59" name="Text 54"/>
          <p:cNvSpPr txBox="1"/>
          <p:nvPr/>
        </p:nvSpPr>
        <p:spPr>
          <a:xfrm>
            <a:off x="8426196" y="3857854"/>
            <a:ext cx="667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SPEED</a:t>
            </a:r>
            <a:endParaRPr lang="en-US" sz="900" dirty="0"/>
          </a:p>
        </p:txBody>
      </p:sp>
      <p:sp>
        <p:nvSpPr>
          <p:cNvPr id="60" name="Text 55"/>
          <p:cNvSpPr txBox="1"/>
          <p:nvPr/>
        </p:nvSpPr>
        <p:spPr>
          <a:xfrm>
            <a:off x="8426196" y="4105656"/>
            <a:ext cx="667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POWER</a:t>
            </a:r>
            <a:endParaRPr lang="en-US" sz="900" dirty="0"/>
          </a:p>
        </p:txBody>
      </p:sp>
      <p:sp>
        <p:nvSpPr>
          <p:cNvPr id="61" name="Text 56"/>
          <p:cNvSpPr txBox="1"/>
          <p:nvPr/>
        </p:nvSpPr>
        <p:spPr>
          <a:xfrm>
            <a:off x="8426196" y="4352544"/>
            <a:ext cx="667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RAPID</a:t>
            </a:r>
            <a:endParaRPr lang="en-US" sz="900" dirty="0"/>
          </a:p>
        </p:txBody>
      </p:sp>
      <p:sp>
        <p:nvSpPr>
          <p:cNvPr id="62" name="Text 57"/>
          <p:cNvSpPr txBox="1"/>
          <p:nvPr/>
        </p:nvSpPr>
        <p:spPr>
          <a:xfrm>
            <a:off x="8588045" y="4972507"/>
            <a:ext cx="270113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 이동은 느리지만 공격 범위가 넓어 다수의 적을 제압하기 좋음.</a:t>
            </a:r>
            <a:endParaRPr lang="en-US" sz="1000" dirty="0"/>
          </a:p>
        </p:txBody>
      </p:sp>
      <p:sp>
        <p:nvSpPr>
          <p:cNvPr id="63" name="Text 58"/>
          <p:cNvSpPr txBox="1"/>
          <p:nvPr/>
        </p:nvSpPr>
        <p:spPr>
          <a:xfrm>
            <a:off x="8588045" y="5481828"/>
            <a:ext cx="1938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공격: 3방향(3-Way) 확산탄 발사.</a:t>
            </a:r>
            <a:endParaRPr lang="en-US" sz="1000" dirty="0"/>
          </a:p>
        </p:txBody>
      </p:sp>
      <p:pic>
        <p:nvPicPr>
          <p:cNvPr id="64" name="Image 3" descr="preencoded.png"/>
          <p:cNvPicPr>
            <a:picLocks noChangeAspect="1"/>
          </p:cNvPicPr>
          <p:nvPr/>
        </p:nvPicPr>
        <p:blipFill>
          <a:blip r:embed="rId5"/>
          <a:srcRect t="-28055" b="-28055"/>
          <a:stretch/>
        </p:blipFill>
        <p:spPr>
          <a:xfrm>
            <a:off x="9652406" y="1962302"/>
            <a:ext cx="609905" cy="761695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4796942" y="6476695"/>
            <a:ext cx="705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■ BALANCE</a:t>
            </a:r>
            <a:endParaRPr lang="en-US" sz="900" dirty="0"/>
          </a:p>
        </p:txBody>
      </p:sp>
      <p:sp>
        <p:nvSpPr>
          <p:cNvPr id="66" name="Text 60"/>
          <p:cNvSpPr txBox="1"/>
          <p:nvPr/>
        </p:nvSpPr>
        <p:spPr>
          <a:xfrm>
            <a:off x="5718658" y="6476695"/>
            <a:ext cx="705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■ AGILITY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6641287" y="6476695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■ FIREPOWER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" y="0"/>
            <a:ext cx="12191695" cy="6858000"/>
          </a:xfrm>
          <a:prstGeom prst="rect">
            <a:avLst/>
          </a:prstGeom>
          <a:solidFill>
            <a:srgbClr val="0505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438705" y="6858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753905" y="1028700"/>
            <a:ext cx="28346" cy="2834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8895" y="2743200"/>
            <a:ext cx="19202" cy="19202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4800600"/>
            <a:ext cx="19202" cy="19202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6305" y="1714500"/>
            <a:ext cx="9144" cy="9144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28346" cy="2834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0" y="58293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905" y="342900"/>
            <a:ext cx="28346" cy="28346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972800" y="6172200"/>
            <a:ext cx="9144" cy="9144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46720" y="2263140"/>
            <a:ext cx="19202" cy="1920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57200" y="724205"/>
            <a:ext cx="6896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적 기체 분석 Enemy Patterns</a:t>
            </a:r>
            <a:endParaRPr lang="en-US" sz="3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0" y="1061618"/>
            <a:ext cx="114300" cy="1143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0248595" y="1047902"/>
            <a:ext cx="15819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TARGET LOCKED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1485900"/>
            <a:ext cx="3562502" cy="4762195"/>
          </a:xfrm>
          <a:prstGeom prst="roundRect">
            <a:avLst>
              <a:gd name="adj" fmla="val 824"/>
            </a:avLst>
          </a:prstGeom>
          <a:solidFill>
            <a:srgbClr val="0A0A14">
              <a:alpha val="80000"/>
            </a:srgbClr>
          </a:solidFill>
          <a:ln w="25400">
            <a:solidFill>
              <a:srgbClr val="FFD700"/>
            </a:solidFill>
            <a:prstDash val="solid"/>
          </a:ln>
          <a:effectLst>
            <a:outerShdw blurRad="139700" dist="12700" dir="16200000" algn="bl" rotWithShape="0">
              <a:srgbClr val="FFD7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317797" y="1485900"/>
            <a:ext cx="3562502" cy="4762195"/>
          </a:xfrm>
          <a:prstGeom prst="roundRect">
            <a:avLst>
              <a:gd name="adj" fmla="val 824"/>
            </a:avLst>
          </a:prstGeom>
          <a:solidFill>
            <a:srgbClr val="0A0A14">
              <a:alpha val="80000"/>
            </a:srgbClr>
          </a:solidFill>
          <a:ln w="25400">
            <a:solidFill>
              <a:srgbClr val="BF00FF"/>
            </a:solidFill>
            <a:prstDash val="solid"/>
          </a:ln>
          <a:effectLst>
            <a:outerShdw blurRad="139700" dist="12700" dir="16200000" algn="bl" rotWithShape="0">
              <a:srgbClr val="BF00FF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178394" y="1485900"/>
            <a:ext cx="3562502" cy="4762195"/>
          </a:xfrm>
          <a:prstGeom prst="roundRect">
            <a:avLst>
              <a:gd name="adj" fmla="val 824"/>
            </a:avLst>
          </a:prstGeom>
          <a:solidFill>
            <a:srgbClr val="0A0A14">
              <a:alpha val="80000"/>
            </a:srgbClr>
          </a:solidFill>
          <a:ln w="25400">
            <a:solidFill>
              <a:srgbClr val="FF3333"/>
            </a:solidFill>
            <a:prstDash val="solid"/>
          </a:ln>
          <a:effectLst>
            <a:outerShdw blurRad="139700" dist="12700" dir="16200000" algn="bl" rotWithShape="0">
              <a:srgbClr val="FF3333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1854403" y="2038198"/>
            <a:ext cx="761695" cy="60990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466698" y="3865169"/>
            <a:ext cx="2305202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1466698" y="3865169"/>
            <a:ext cx="694944" cy="75895"/>
          </a:xfrm>
          <a:prstGeom prst="roundRect">
            <a:avLst>
              <a:gd name="adj" fmla="val 301206"/>
            </a:avLst>
          </a:prstGeom>
          <a:solidFill>
            <a:srgbClr val="FFD700"/>
          </a:solidFill>
          <a:ln/>
          <a:effectLst>
            <a:outerShdw blurRad="50800" dist="12700" dir="16200000" algn="bl" rotWithShape="0">
              <a:srgbClr val="FFD700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466698" y="4090111"/>
            <a:ext cx="2305202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1466698" y="4090111"/>
            <a:ext cx="1152144" cy="75895"/>
          </a:xfrm>
          <a:prstGeom prst="roundRect">
            <a:avLst>
              <a:gd name="adj" fmla="val 301206"/>
            </a:avLst>
          </a:prstGeom>
          <a:solidFill>
            <a:srgbClr val="FFD700"/>
          </a:solidFill>
          <a:ln/>
          <a:effectLst>
            <a:outerShdw blurRad="50800" dist="12700" dir="16200000" algn="bl" rotWithShape="0">
              <a:srgbClr val="FFD700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1466698" y="4315054"/>
            <a:ext cx="2305202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1466698" y="4315054"/>
            <a:ext cx="466344" cy="75895"/>
          </a:xfrm>
          <a:prstGeom prst="roundRect">
            <a:avLst>
              <a:gd name="adj" fmla="val 301206"/>
            </a:avLst>
          </a:prstGeom>
          <a:solidFill>
            <a:srgbClr val="FFD700"/>
          </a:solidFill>
          <a:ln/>
          <a:effectLst>
            <a:outerShdw blurRad="50800" dist="12700" dir="16200000" algn="bl" rotWithShape="0">
              <a:srgbClr val="FFD700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705002" y="4732020"/>
            <a:ext cx="3066898" cy="1266444"/>
          </a:xfrm>
          <a:prstGeom prst="roundRect">
            <a:avLst>
              <a:gd name="adj" fmla="val 2171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 txBox="1"/>
          <p:nvPr/>
        </p:nvSpPr>
        <p:spPr>
          <a:xfrm>
            <a:off x="1759306" y="3143707"/>
            <a:ext cx="1095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D70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BASIC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640434" y="3457346"/>
            <a:ext cx="12765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TYPE-A: STANDARD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705002" y="3847795"/>
            <a:ext cx="676656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HEALTH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705002" y="4072738"/>
            <a:ext cx="5715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SPEED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705002" y="4297680"/>
            <a:ext cx="676656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TRICKY</a:t>
            </a:r>
            <a:endParaRPr lang="en-US" sz="800" dirty="0"/>
          </a:p>
        </p:txBody>
      </p:sp>
      <p:sp>
        <p:nvSpPr>
          <p:cNvPr id="33" name="Text 29"/>
          <p:cNvSpPr txBox="1"/>
          <p:nvPr/>
        </p:nvSpPr>
        <p:spPr>
          <a:xfrm>
            <a:off x="866851" y="4903927"/>
            <a:ext cx="282458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패턴: 기본적으로 직선 하강하지만, 플레이어 방향으로 살짝 추적하는 움직임을 가짐.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66851" y="5413248"/>
            <a:ext cx="278617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 난이도와 웨이브가 증가할수록 이동 속도가 빨라짐.</a:t>
            </a:r>
            <a:endParaRPr lang="en-US" sz="10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5715000" y="2038198"/>
            <a:ext cx="761695" cy="609905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5327294" y="3865169"/>
            <a:ext cx="2305202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2"/>
          <p:cNvSpPr/>
          <p:nvPr/>
        </p:nvSpPr>
        <p:spPr>
          <a:xfrm>
            <a:off x="5327294" y="3865169"/>
            <a:ext cx="1848002" cy="75895"/>
          </a:xfrm>
          <a:prstGeom prst="roundRect">
            <a:avLst>
              <a:gd name="adj" fmla="val 301206"/>
            </a:avLst>
          </a:prstGeom>
          <a:solidFill>
            <a:srgbClr val="BF00FF"/>
          </a:solidFill>
          <a:ln/>
          <a:effectLst>
            <a:outerShdw blurRad="50800" dist="12700" dir="16200000" algn="bl" rotWithShape="0">
              <a:srgbClr val="BF00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3"/>
          <p:cNvSpPr/>
          <p:nvPr/>
        </p:nvSpPr>
        <p:spPr>
          <a:xfrm>
            <a:off x="5327294" y="4090111"/>
            <a:ext cx="2305202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4"/>
          <p:cNvSpPr/>
          <p:nvPr/>
        </p:nvSpPr>
        <p:spPr>
          <a:xfrm>
            <a:off x="5327294" y="4090111"/>
            <a:ext cx="923544" cy="75895"/>
          </a:xfrm>
          <a:prstGeom prst="roundRect">
            <a:avLst>
              <a:gd name="adj" fmla="val 301206"/>
            </a:avLst>
          </a:prstGeom>
          <a:solidFill>
            <a:srgbClr val="BF00FF"/>
          </a:solidFill>
          <a:ln/>
          <a:effectLst>
            <a:outerShdw blurRad="50800" dist="12700" dir="16200000" algn="bl" rotWithShape="0">
              <a:srgbClr val="BF00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5"/>
          <p:cNvSpPr/>
          <p:nvPr/>
        </p:nvSpPr>
        <p:spPr>
          <a:xfrm>
            <a:off x="5327294" y="4315054"/>
            <a:ext cx="2305202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6"/>
          <p:cNvSpPr/>
          <p:nvPr/>
        </p:nvSpPr>
        <p:spPr>
          <a:xfrm>
            <a:off x="5327294" y="4315054"/>
            <a:ext cx="2076602" cy="75895"/>
          </a:xfrm>
          <a:prstGeom prst="roundRect">
            <a:avLst>
              <a:gd name="adj" fmla="val 301206"/>
            </a:avLst>
          </a:prstGeom>
          <a:solidFill>
            <a:srgbClr val="BF00FF"/>
          </a:solidFill>
          <a:ln/>
          <a:effectLst>
            <a:outerShdw blurRad="50800" dist="12700" dir="16200000" algn="bl" rotWithShape="0">
              <a:srgbClr val="BF00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4565599" y="4732020"/>
            <a:ext cx="3066898" cy="1266444"/>
          </a:xfrm>
          <a:prstGeom prst="roundRect">
            <a:avLst>
              <a:gd name="adj" fmla="val 2171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 txBox="1"/>
          <p:nvPr/>
        </p:nvSpPr>
        <p:spPr>
          <a:xfrm>
            <a:off x="5524805" y="3143707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00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ZIGZAG</a:t>
            </a:r>
            <a:endParaRPr lang="en-US" sz="1500" dirty="0"/>
          </a:p>
        </p:txBody>
      </p:sp>
      <p:sp>
        <p:nvSpPr>
          <p:cNvPr id="44" name="Text 39"/>
          <p:cNvSpPr txBox="1"/>
          <p:nvPr/>
        </p:nvSpPr>
        <p:spPr>
          <a:xfrm>
            <a:off x="5538521" y="3457346"/>
            <a:ext cx="12097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TYPE-B: DURABLE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4565599" y="3847795"/>
            <a:ext cx="676656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HEALTH</a:t>
            </a:r>
            <a:endParaRPr lang="en-US" sz="800" dirty="0"/>
          </a:p>
        </p:txBody>
      </p:sp>
      <p:sp>
        <p:nvSpPr>
          <p:cNvPr id="46" name="Text 41"/>
          <p:cNvSpPr txBox="1"/>
          <p:nvPr/>
        </p:nvSpPr>
        <p:spPr>
          <a:xfrm>
            <a:off x="4565599" y="4072738"/>
            <a:ext cx="5715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SPEED</a:t>
            </a:r>
            <a:endParaRPr lang="en-US" sz="800" dirty="0"/>
          </a:p>
        </p:txBody>
      </p:sp>
      <p:sp>
        <p:nvSpPr>
          <p:cNvPr id="47" name="Text 42"/>
          <p:cNvSpPr txBox="1"/>
          <p:nvPr/>
        </p:nvSpPr>
        <p:spPr>
          <a:xfrm>
            <a:off x="4565599" y="4297680"/>
            <a:ext cx="676656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TRICKY</a:t>
            </a:r>
            <a:endParaRPr lang="en-US" sz="800" dirty="0"/>
          </a:p>
        </p:txBody>
      </p:sp>
      <p:sp>
        <p:nvSpPr>
          <p:cNvPr id="48" name="Text 43"/>
          <p:cNvSpPr txBox="1"/>
          <p:nvPr/>
        </p:nvSpPr>
        <p:spPr>
          <a:xfrm>
            <a:off x="4727448" y="4903927"/>
            <a:ext cx="2691079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패턴: Sin 곡선을 그리며 지그재그로 하강. 기준 위치(BaseX)가 불규칙하게 흔들림.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4727448" y="5413248"/>
            <a:ext cx="27962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 기본 적보다 HP가 높아 튼튼하며 예측 샷이 까다로움.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9188806" y="3865169"/>
            <a:ext cx="2305202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6"/>
          <p:cNvSpPr/>
          <p:nvPr/>
        </p:nvSpPr>
        <p:spPr>
          <a:xfrm>
            <a:off x="9188806" y="3865169"/>
            <a:ext cx="1152144" cy="75895"/>
          </a:xfrm>
          <a:prstGeom prst="roundRect">
            <a:avLst>
              <a:gd name="adj" fmla="val 301206"/>
            </a:avLst>
          </a:prstGeom>
          <a:solidFill>
            <a:srgbClr val="FF3333"/>
          </a:solidFill>
          <a:ln/>
          <a:effectLst>
            <a:outerShdw blurRad="50800" dist="12700" dir="16200000" algn="bl" rotWithShape="0">
              <a:srgbClr val="FF3333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7"/>
          <p:cNvSpPr/>
          <p:nvPr/>
        </p:nvSpPr>
        <p:spPr>
          <a:xfrm>
            <a:off x="9188806" y="4090111"/>
            <a:ext cx="2305202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8"/>
          <p:cNvSpPr/>
          <p:nvPr/>
        </p:nvSpPr>
        <p:spPr>
          <a:xfrm>
            <a:off x="9188806" y="4090111"/>
            <a:ext cx="2190902" cy="75895"/>
          </a:xfrm>
          <a:prstGeom prst="roundRect">
            <a:avLst>
              <a:gd name="adj" fmla="val 301206"/>
            </a:avLst>
          </a:prstGeom>
          <a:solidFill>
            <a:srgbClr val="FF3333"/>
          </a:solidFill>
          <a:ln/>
          <a:effectLst>
            <a:outerShdw blurRad="50800" dist="12700" dir="16200000" algn="bl" rotWithShape="0">
              <a:srgbClr val="FF3333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9"/>
          <p:cNvSpPr/>
          <p:nvPr/>
        </p:nvSpPr>
        <p:spPr>
          <a:xfrm>
            <a:off x="9188806" y="4315054"/>
            <a:ext cx="2305202" cy="75895"/>
          </a:xfrm>
          <a:prstGeom prst="roundRect">
            <a:avLst>
              <a:gd name="adj" fmla="val 301206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0"/>
          <p:cNvSpPr/>
          <p:nvPr/>
        </p:nvSpPr>
        <p:spPr>
          <a:xfrm>
            <a:off x="9188806" y="4315054"/>
            <a:ext cx="1380744" cy="75895"/>
          </a:xfrm>
          <a:prstGeom prst="roundRect">
            <a:avLst>
              <a:gd name="adj" fmla="val 301206"/>
            </a:avLst>
          </a:prstGeom>
          <a:solidFill>
            <a:srgbClr val="FF3333"/>
          </a:solidFill>
          <a:ln/>
          <a:effectLst>
            <a:outerShdw blurRad="50800" dist="12700" dir="16200000" algn="bl" rotWithShape="0">
              <a:srgbClr val="FF3333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1"/>
          <p:cNvSpPr/>
          <p:nvPr/>
        </p:nvSpPr>
        <p:spPr>
          <a:xfrm>
            <a:off x="8426196" y="4732020"/>
            <a:ext cx="3066898" cy="1266444"/>
          </a:xfrm>
          <a:prstGeom prst="roundRect">
            <a:avLst>
              <a:gd name="adj" fmla="val 2171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2"/>
          <p:cNvSpPr txBox="1"/>
          <p:nvPr/>
        </p:nvSpPr>
        <p:spPr>
          <a:xfrm>
            <a:off x="9575597" y="3143707"/>
            <a:ext cx="905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3333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DASH</a:t>
            </a:r>
            <a:endParaRPr lang="en-US" sz="1500" dirty="0"/>
          </a:p>
        </p:txBody>
      </p:sp>
      <p:sp>
        <p:nvSpPr>
          <p:cNvPr id="58" name="Text 53"/>
          <p:cNvSpPr txBox="1"/>
          <p:nvPr/>
        </p:nvSpPr>
        <p:spPr>
          <a:xfrm>
            <a:off x="9399118" y="3457346"/>
            <a:ext cx="12097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TYPE-C: ASSAULT</a:t>
            </a:r>
            <a:endParaRPr lang="en-US" sz="900" dirty="0"/>
          </a:p>
        </p:txBody>
      </p:sp>
      <p:sp>
        <p:nvSpPr>
          <p:cNvPr id="59" name="Text 54"/>
          <p:cNvSpPr txBox="1"/>
          <p:nvPr/>
        </p:nvSpPr>
        <p:spPr>
          <a:xfrm>
            <a:off x="8426196" y="3847795"/>
            <a:ext cx="676656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HEALTH</a:t>
            </a:r>
            <a:endParaRPr lang="en-US" sz="800" dirty="0"/>
          </a:p>
        </p:txBody>
      </p:sp>
      <p:sp>
        <p:nvSpPr>
          <p:cNvPr id="60" name="Text 55"/>
          <p:cNvSpPr txBox="1"/>
          <p:nvPr/>
        </p:nvSpPr>
        <p:spPr>
          <a:xfrm>
            <a:off x="8426196" y="4072738"/>
            <a:ext cx="5715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SPEED</a:t>
            </a:r>
            <a:endParaRPr lang="en-US" sz="800" dirty="0"/>
          </a:p>
        </p:txBody>
      </p:sp>
      <p:sp>
        <p:nvSpPr>
          <p:cNvPr id="61" name="Text 56"/>
          <p:cNvSpPr txBox="1"/>
          <p:nvPr/>
        </p:nvSpPr>
        <p:spPr>
          <a:xfrm>
            <a:off x="8426196" y="4297680"/>
            <a:ext cx="676656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TRICKY</a:t>
            </a:r>
            <a:endParaRPr lang="en-US" sz="800" dirty="0"/>
          </a:p>
        </p:txBody>
      </p:sp>
      <p:sp>
        <p:nvSpPr>
          <p:cNvPr id="62" name="Text 57"/>
          <p:cNvSpPr txBox="1"/>
          <p:nvPr/>
        </p:nvSpPr>
        <p:spPr>
          <a:xfrm>
            <a:off x="8588045" y="4903927"/>
            <a:ext cx="2805379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패턴: 천천히 하강하다가 일정 Y 위치에 도달하면 플레이어를 향해 급가속 돌진.</a:t>
            </a:r>
            <a:endParaRPr lang="en-US" sz="1000" dirty="0"/>
          </a:p>
        </p:txBody>
      </p:sp>
      <p:sp>
        <p:nvSpPr>
          <p:cNvPr id="63" name="Text 58"/>
          <p:cNvSpPr txBox="1"/>
          <p:nvPr/>
        </p:nvSpPr>
        <p:spPr>
          <a:xfrm>
            <a:off x="8588045" y="5413248"/>
            <a:ext cx="270113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 돌진 경로에 약간의 노이즈가 있어 완벽한 직선이 아님.</a:t>
            </a:r>
            <a:endParaRPr lang="en-US" sz="1000" dirty="0"/>
          </a:p>
        </p:txBody>
      </p:sp>
      <p:pic>
        <p:nvPicPr>
          <p:cNvPr id="6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23476" y="1910182"/>
            <a:ext cx="866851" cy="866851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4728362" y="6409030"/>
            <a:ext cx="781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■ STANDARD</a:t>
            </a:r>
            <a:endParaRPr lang="en-US" sz="900" dirty="0"/>
          </a:p>
        </p:txBody>
      </p:sp>
      <p:sp>
        <p:nvSpPr>
          <p:cNvPr id="66" name="Text 60"/>
          <p:cNvSpPr txBox="1"/>
          <p:nvPr/>
        </p:nvSpPr>
        <p:spPr>
          <a:xfrm>
            <a:off x="5718658" y="6409030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■ SINE-WAVE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6778447" y="6409030"/>
            <a:ext cx="781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■ KAMIKAZE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438705" y="6858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753905" y="1028700"/>
            <a:ext cx="28346" cy="2834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8895" y="2743200"/>
            <a:ext cx="19202" cy="19202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4800600"/>
            <a:ext cx="19202" cy="19202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6305" y="1714500"/>
            <a:ext cx="9144" cy="9144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28346" cy="2834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0" y="58293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905" y="342900"/>
            <a:ext cx="28346" cy="28346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972800" y="6172200"/>
            <a:ext cx="9144" cy="9144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46720" y="2263140"/>
            <a:ext cx="19202" cy="1920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9753905" y="4419295"/>
            <a:ext cx="1218895" cy="121889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1048695" y="761695"/>
            <a:ext cx="761695" cy="761695"/>
          </a:xfrm>
          <a:prstGeom prst="rect">
            <a:avLst/>
          </a:prstGeom>
          <a:noFill/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381305" y="5333695"/>
            <a:ext cx="761695" cy="761695"/>
          </a:xfrm>
          <a:prstGeom prst="rect">
            <a:avLst/>
          </a:prstGeom>
          <a:noFill/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613502" y="2388413"/>
            <a:ext cx="6124651" cy="116220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613502" y="2388413"/>
            <a:ext cx="38405" cy="116220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613502" y="3774643"/>
            <a:ext cx="6124651" cy="116220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613502" y="3774643"/>
            <a:ext cx="38405" cy="116220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613502" y="5159959"/>
            <a:ext cx="6124651" cy="116220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613502" y="5159959"/>
            <a:ext cx="38405" cy="116220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5613502" y="1169518"/>
            <a:ext cx="56199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333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보스 시스템 Boss Battle Mechanics</a:t>
            </a:r>
            <a:endParaRPr lang="en-US" sz="36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42102" y="2617013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223406" y="2626157"/>
            <a:ext cx="1329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등장 및 패턴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223406" y="2931566"/>
            <a:ext cx="533918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상단 중앙에서 등장하여 좌우로 크게 움직이며 플레이어를 압박합니다. 일정 주기마다 강력한 탄막 패턴을 구사하며, 난이도에 따라 속도가 변화합니다.</a:t>
            </a:r>
            <a:endParaRPr lang="en-US" sz="10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842102" y="4003243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223406" y="4012387"/>
            <a:ext cx="18434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HP 게이지 시스템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223406" y="4316882"/>
            <a:ext cx="534832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보스의 체력은 숫자 대신 붉은색 바(Bar)로 시각화됩니다. 피격 시 즉시 게이지가 감소하며, 플레이어가 남은 체력을 직관적으로 파악할 수 있습니다.</a:t>
            </a:r>
            <a:endParaRPr lang="en-US" sz="10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5842102" y="5388559"/>
            <a:ext cx="256946" cy="2286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251753" y="5398618"/>
            <a:ext cx="1329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격파 및 보상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6251753" y="5703113"/>
            <a:ext cx="536752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HP가 0이 되면 큰 폭발 이펙트가 연쇄적으로 발생하며 보스가 파괴됩니다. 이후 "YOU WIN!" 메시지와 함께 대량의 GOLD가 지급되며 스테이지가 클리어됩니다.</a:t>
            </a:r>
            <a:endParaRPr lang="en-US" sz="10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rcRect/>
          <a:stretch/>
        </p:blipFill>
        <p:spPr>
          <a:xfrm>
            <a:off x="2197303" y="2143354"/>
            <a:ext cx="1218895" cy="1218895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492301" y="3124505"/>
            <a:ext cx="485546" cy="485546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635654" y="3124505"/>
            <a:ext cx="485546" cy="485546"/>
          </a:xfrm>
          <a:prstGeom prst="rect">
            <a:avLst/>
          </a:prstGeom>
        </p:spPr>
      </p:pic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49501" y="1895551"/>
            <a:ext cx="1714500" cy="17145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282903" y="4134002"/>
            <a:ext cx="3191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F444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GALAXY DESTROYER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1606601" y="4410151"/>
            <a:ext cx="24963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CLASS: MOTHERSHIP / THREAT: EXTREME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977494" y="4724705"/>
            <a:ext cx="324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HP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4292194" y="4724705"/>
            <a:ext cx="4389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80%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977494" y="4953305"/>
            <a:ext cx="3657600" cy="190195"/>
          </a:xfrm>
          <a:prstGeom prst="rect">
            <a:avLst/>
          </a:prstGeom>
          <a:solidFill>
            <a:srgbClr val="33333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2"/>
          <p:cNvSpPr/>
          <p:nvPr/>
        </p:nvSpPr>
        <p:spPr>
          <a:xfrm>
            <a:off x="1015898" y="4990795"/>
            <a:ext cx="2866644" cy="114300"/>
          </a:xfrm>
          <a:prstGeom prst="rect">
            <a:avLst/>
          </a:prstGeom>
          <a:solidFill>
            <a:srgbClr val="FF0000"/>
          </a:solidFill>
          <a:ln/>
          <a:effectLst>
            <a:outerShdw blurRad="101600" dist="12700" dir="16200000" algn="bl" rotWithShape="0">
              <a:srgbClr val="FF0000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3"/>
          <p:cNvSpPr/>
          <p:nvPr/>
        </p:nvSpPr>
        <p:spPr>
          <a:xfrm>
            <a:off x="1015898" y="4990795"/>
            <a:ext cx="2864815" cy="1143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4"/>
          <p:cNvSpPr/>
          <p:nvPr/>
        </p:nvSpPr>
        <p:spPr>
          <a:xfrm>
            <a:off x="0" y="0"/>
            <a:ext cx="12191695" cy="362102"/>
          </a:xfrm>
          <a:prstGeom prst="rect">
            <a:avLst/>
          </a:prstGeom>
          <a:solidFill>
            <a:srgbClr val="7F1D1D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5"/>
          <p:cNvSpPr/>
          <p:nvPr/>
        </p:nvSpPr>
        <p:spPr>
          <a:xfrm>
            <a:off x="0" y="342900"/>
            <a:ext cx="12191695" cy="1920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0">
            <a:alphaModFix amt="89000"/>
          </a:blip>
          <a:srcRect/>
          <a:stretch/>
        </p:blipFill>
        <p:spPr>
          <a:xfrm>
            <a:off x="3112618" y="75895"/>
            <a:ext cx="190195" cy="190195"/>
          </a:xfrm>
          <a:prstGeom prst="rect">
            <a:avLst/>
          </a:prstGeom>
        </p:spPr>
      </p:pic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0">
            <a:alphaModFix amt="89000"/>
          </a:blip>
          <a:srcRect/>
          <a:stretch/>
        </p:blipFill>
        <p:spPr>
          <a:xfrm>
            <a:off x="8888882" y="75895"/>
            <a:ext cx="190195" cy="190195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3455518" y="105156"/>
            <a:ext cx="538673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>
                    <a:alpha val="8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WARNING: HUGE BATTLESHIP APPROACHING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438705" y="6858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753905" y="1028700"/>
            <a:ext cx="28346" cy="2834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8895" y="2743200"/>
            <a:ext cx="19202" cy="19202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4800600"/>
            <a:ext cx="19202" cy="19202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6305" y="1714500"/>
            <a:ext cx="9144" cy="9144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28346" cy="2834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0" y="58293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905" y="342900"/>
            <a:ext cx="28346" cy="28346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972800" y="6172200"/>
            <a:ext cx="9144" cy="9144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46720" y="2263140"/>
            <a:ext cx="19202" cy="1920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0" y="822960"/>
            <a:ext cx="19202" cy="19202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828800" y="3771900"/>
            <a:ext cx="28346" cy="28346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267505" y="5349240"/>
            <a:ext cx="9144" cy="9144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10287000" y="5105095"/>
            <a:ext cx="1447495" cy="1447495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57200" y="1333195"/>
            <a:ext cx="11277295" cy="19202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457200" y="724205"/>
            <a:ext cx="82588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전투 시스템 Controls &amp; Mechanics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9905695" y="1047902"/>
            <a:ext cx="1924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84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READY PLAYER ONE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2687" y="1740583"/>
            <a:ext cx="5486400" cy="2162556"/>
          </a:xfrm>
          <a:prstGeom prst="roundRect">
            <a:avLst>
              <a:gd name="adj" fmla="val 1490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FFFFFF"/>
            </a:solidFill>
            <a:prstDash val="solid"/>
          </a:ln>
          <a:effectLst>
            <a:outerShdw blurRad="127000" dist="12700" dir="27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705002" y="198150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000000">
              <a:alpha val="50000"/>
            </a:srgbClr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-27" r="-27"/>
          <a:stretch/>
        </p:blipFill>
        <p:spPr>
          <a:xfrm>
            <a:off x="871423" y="2190902"/>
            <a:ext cx="428854" cy="3429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248095" y="1733702"/>
            <a:ext cx="5486400" cy="2162556"/>
          </a:xfrm>
          <a:prstGeom prst="roundRect">
            <a:avLst>
              <a:gd name="adj" fmla="val 1490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EC4899"/>
            </a:solidFill>
            <a:prstDash val="solid"/>
          </a:ln>
          <a:effectLst>
            <a:outerShdw blurRad="127000" dist="12700" dir="2700000" algn="bl" rotWithShape="0">
              <a:srgbClr val="EC4899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6495898" y="198150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000000">
              <a:alpha val="50000"/>
            </a:srgbClr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05295" y="2190902"/>
            <a:ext cx="342900" cy="3429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57200" y="4200754"/>
            <a:ext cx="5486400" cy="2200046"/>
          </a:xfrm>
          <a:prstGeom prst="roundRect">
            <a:avLst>
              <a:gd name="adj" fmla="val 1439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34D399"/>
            </a:solidFill>
            <a:prstDash val="solid"/>
          </a:ln>
          <a:effectLst>
            <a:outerShdw blurRad="127000" dist="12700" dir="2700000" algn="bl" rotWithShape="0">
              <a:srgbClr val="34D399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705002" y="4448556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000000">
              <a:alpha val="50000"/>
            </a:srgbClr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4400" y="4657954"/>
            <a:ext cx="342900" cy="3429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248095" y="4200754"/>
            <a:ext cx="5486400" cy="2200046"/>
          </a:xfrm>
          <a:prstGeom prst="roundRect">
            <a:avLst>
              <a:gd name="adj" fmla="val 1439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FBBF24"/>
            </a:solidFill>
            <a:prstDash val="solid"/>
          </a:ln>
          <a:effectLst>
            <a:outerShdw blurRad="127000" dist="12700" dir="2700000" algn="bl" rotWithShape="0">
              <a:srgbClr val="FBBF24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6495898" y="4448556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000000">
              <a:alpha val="50000"/>
            </a:srgbClr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27" r="-27"/>
          <a:stretch/>
        </p:blipFill>
        <p:spPr>
          <a:xfrm>
            <a:off x="6662318" y="4657954"/>
            <a:ext cx="428854" cy="3429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695298" y="2318918"/>
            <a:ext cx="1666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FF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CONTROLS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1695298" y="2671877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방향키 이동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1695298" y="3157423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부드러운 조작감 구현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7487107" y="2318918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00DE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ATTACK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7487107" y="2671877"/>
            <a:ext cx="1281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스페이스바 발사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7487107" y="2967228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기체별 고유 패턴 공격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7487107" y="3157423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연사 속도 업그레이드 가능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1695298" y="4785970"/>
            <a:ext cx="905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9FF1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LIFE</a:t>
            </a:r>
            <a:endParaRPr lang="en-US" sz="1500" dirty="0"/>
          </a:p>
        </p:txBody>
      </p:sp>
      <p:sp>
        <p:nvSpPr>
          <p:cNvPr id="42" name="Text 35"/>
          <p:cNvSpPr txBox="1"/>
          <p:nvPr/>
        </p:nvSpPr>
        <p:spPr>
          <a:xfrm>
            <a:off x="1695298" y="5138928"/>
            <a:ext cx="15105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목숨 &amp; 무적 시스템</a:t>
            </a:r>
            <a:endParaRPr lang="en-US" sz="13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95298" y="5469941"/>
            <a:ext cx="66751" cy="133502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800454" y="5434279"/>
            <a:ext cx="11960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3개 / 최대 3개</a:t>
            </a:r>
            <a:endParaRPr lang="en-US" sz="10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95298" y="5698541"/>
            <a:ext cx="66751" cy="133502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1800454" y="5662879"/>
            <a:ext cx="1538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피격 시 무적(깜빡임 연출)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7487107" y="4805172"/>
            <a:ext cx="1476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0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SUPPORT</a:t>
            </a:r>
            <a:endParaRPr lang="en-US" sz="1500" dirty="0"/>
          </a:p>
        </p:txBody>
      </p:sp>
      <p:sp>
        <p:nvSpPr>
          <p:cNvPr id="48" name="Text 39"/>
          <p:cNvSpPr txBox="1"/>
          <p:nvPr/>
        </p:nvSpPr>
        <p:spPr>
          <a:xfrm>
            <a:off x="7487107" y="5158130"/>
            <a:ext cx="17483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 기체 (Sub Ship)</a:t>
            </a:r>
            <a:endParaRPr lang="en-US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7487107" y="5453482"/>
            <a:ext cx="1605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아이템으로 획득 (최대 2대)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7487107" y="5643677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양옆에서 자동 공격 지원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438705" y="6858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753905" y="1028700"/>
            <a:ext cx="28346" cy="2834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8895" y="2743200"/>
            <a:ext cx="19202" cy="19202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4800600"/>
            <a:ext cx="19202" cy="19202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6305" y="1714500"/>
            <a:ext cx="9144" cy="9144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28346" cy="2834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0" y="58293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905" y="342900"/>
            <a:ext cx="28346" cy="28346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972800" y="6172200"/>
            <a:ext cx="9144" cy="9144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46720" y="2263140"/>
            <a:ext cx="19202" cy="1920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0" y="822960"/>
            <a:ext cx="19202" cy="19202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828800" y="3771900"/>
            <a:ext cx="28346" cy="28346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267505" y="5349240"/>
            <a:ext cx="9144" cy="9144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-3974" b="-3974"/>
          <a:stretch/>
        </p:blipFill>
        <p:spPr>
          <a:xfrm>
            <a:off x="9991649" y="5048402"/>
            <a:ext cx="1742846" cy="150510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57200" y="1333195"/>
            <a:ext cx="11277295" cy="19202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457200" y="724205"/>
            <a:ext cx="8906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난이도 &amp; </a:t>
            </a:r>
            <a:r>
              <a:rPr lang="en-US" sz="3600" dirty="0" err="1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모드</a:t>
            </a:r>
            <a:r>
              <a:rPr lang="en-US" sz="36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관리</a:t>
            </a:r>
            <a:endParaRPr lang="en-US" sz="3600" dirty="0"/>
          </a:p>
        </p:txBody>
      </p:sp>
      <p:sp>
        <p:nvSpPr>
          <p:cNvPr id="21" name="Shape 18"/>
          <p:cNvSpPr/>
          <p:nvPr/>
        </p:nvSpPr>
        <p:spPr>
          <a:xfrm>
            <a:off x="457200" y="1733702"/>
            <a:ext cx="5486400" cy="2180844"/>
          </a:xfrm>
          <a:prstGeom prst="roundRect">
            <a:avLst>
              <a:gd name="adj" fmla="val 1465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EC4899"/>
            </a:solidFill>
            <a:prstDash val="solid"/>
          </a:ln>
          <a:effectLst>
            <a:outerShdw blurRad="127000" dist="12700" dir="2700000" algn="bl" rotWithShape="0">
              <a:srgbClr val="EC4899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705002" y="198150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000000">
              <a:alpha val="50000"/>
            </a:srgbClr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2190902"/>
            <a:ext cx="342900" cy="3429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248095" y="1733702"/>
            <a:ext cx="5486400" cy="2180844"/>
          </a:xfrm>
          <a:prstGeom prst="roundRect">
            <a:avLst>
              <a:gd name="adj" fmla="val 1465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34D399"/>
            </a:solidFill>
            <a:prstDash val="solid"/>
          </a:ln>
          <a:effectLst>
            <a:outerShdw blurRad="127000" dist="12700" dir="2700000" algn="bl" rotWithShape="0">
              <a:srgbClr val="34D399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6495898" y="198150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000000">
              <a:alpha val="50000"/>
            </a:srgbClr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05295" y="2190902"/>
            <a:ext cx="342900" cy="3429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57200" y="4219956"/>
            <a:ext cx="5486400" cy="2180844"/>
          </a:xfrm>
          <a:prstGeom prst="roundRect">
            <a:avLst>
              <a:gd name="adj" fmla="val 1465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FFFFFF"/>
            </a:solidFill>
            <a:prstDash val="solid"/>
          </a:ln>
          <a:effectLst>
            <a:outerShdw blurRad="127000" dist="12700" dir="27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705002" y="4466844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000000">
              <a:alpha val="50000"/>
            </a:srgbClr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l="-743" r="-743"/>
          <a:stretch/>
        </p:blipFill>
        <p:spPr>
          <a:xfrm>
            <a:off x="933602" y="4677156"/>
            <a:ext cx="304495" cy="3429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248095" y="4219956"/>
            <a:ext cx="5486400" cy="2180844"/>
          </a:xfrm>
          <a:prstGeom prst="roundRect">
            <a:avLst>
              <a:gd name="adj" fmla="val 1465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FBBF24"/>
            </a:solidFill>
            <a:prstDash val="solid"/>
          </a:ln>
          <a:effectLst>
            <a:outerShdw blurRad="127000" dist="12700" dir="2700000" algn="bl" rotWithShape="0">
              <a:srgbClr val="FBBF24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6495898" y="4466844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000000">
              <a:alpha val="50000"/>
            </a:srgbClr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27" r="-27"/>
          <a:stretch/>
        </p:blipFill>
        <p:spPr>
          <a:xfrm>
            <a:off x="6662318" y="4677156"/>
            <a:ext cx="428854" cy="3429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695298" y="2328977"/>
            <a:ext cx="2048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00DE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DIFFICULTY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1695298" y="2681021"/>
            <a:ext cx="1700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기반 난이도 조절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1695298" y="2976372"/>
            <a:ext cx="40910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difficultyConfigs 객체 활용: 적 기본 발사 확률(enemyFireBase) 및 속도 계수(SpeedFactor) 조정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7487107" y="2328977"/>
            <a:ext cx="2238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9FF1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WAVE SYSTEM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7487107" y="2681021"/>
            <a:ext cx="1491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점진적 난이도 상승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7487107" y="2976372"/>
            <a:ext cx="40151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웨이브 증가 시 Difficulty Level 상승, 적 공격 빈도가 상한선 내에서 점차 증가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1695298" y="4815230"/>
            <a:ext cx="2048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FF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STAGE MODE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1695298" y="5167274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클리어 목표형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1695298" y="5462626"/>
            <a:ext cx="40434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웨이브 1~3(일반 적) 진행 후 웨이브 4에서 보스 등장. 보스 처치 시 클리어 및 보상 지급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7487107" y="4815230"/>
            <a:ext cx="2429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00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ENDLESS MODE</a:t>
            </a:r>
            <a:endParaRPr lang="en-US" sz="1500" dirty="0"/>
          </a:p>
        </p:txBody>
      </p:sp>
      <p:sp>
        <p:nvSpPr>
          <p:cNvPr id="43" name="Text 36"/>
          <p:cNvSpPr txBox="1"/>
          <p:nvPr/>
        </p:nvSpPr>
        <p:spPr>
          <a:xfrm>
            <a:off x="7487107" y="5167274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무한 도전형</a:t>
            </a:r>
            <a:endParaRPr lang="en-US" sz="1300" dirty="0"/>
          </a:p>
        </p:txBody>
      </p:sp>
      <p:sp>
        <p:nvSpPr>
          <p:cNvPr id="44" name="Text 37"/>
          <p:cNvSpPr txBox="1"/>
          <p:nvPr/>
        </p:nvSpPr>
        <p:spPr>
          <a:xfrm>
            <a:off x="7487107" y="5462626"/>
            <a:ext cx="40251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없이 웨이브 무한 지속. 시간이 갈수록 적 스폰 수 및 속도가 증가하여 한계 시험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438705" y="6858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753905" y="1028700"/>
            <a:ext cx="28346" cy="2834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8895" y="2743200"/>
            <a:ext cx="19202" cy="19202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4800600"/>
            <a:ext cx="19202" cy="19202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6305" y="1714500"/>
            <a:ext cx="9144" cy="9144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28346" cy="2834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0" y="58293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0" y="2263140"/>
            <a:ext cx="19202" cy="1920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334110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849002" y="819302"/>
            <a:ext cx="1886407" cy="362102"/>
          </a:xfrm>
          <a:prstGeom prst="roundRect">
            <a:avLst>
              <a:gd name="adj" fmla="val 26582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10851" y="923544"/>
            <a:ext cx="152705" cy="1527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" y="724205"/>
            <a:ext cx="8420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 err="1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업그레이드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10239451" y="933602"/>
            <a:ext cx="143377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GOLD: 9999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4848149"/>
            <a:ext cx="7524598" cy="1524305"/>
          </a:xfrm>
          <a:prstGeom prst="roundRect">
            <a:avLst>
              <a:gd name="adj" fmla="val 2999"/>
            </a:avLst>
          </a:prstGeom>
          <a:solidFill>
            <a:srgbClr val="111827">
              <a:alpha val="6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94944" y="5391302"/>
            <a:ext cx="2247595" cy="629107"/>
          </a:xfrm>
          <a:prstGeom prst="roundRect">
            <a:avLst>
              <a:gd name="adj" fmla="val 8809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19302" y="5514746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3602" y="5629046"/>
            <a:ext cx="152705" cy="15270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093415" y="5391302"/>
            <a:ext cx="2247595" cy="629107"/>
          </a:xfrm>
          <a:prstGeom prst="roundRect">
            <a:avLst>
              <a:gd name="adj" fmla="val 8809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3216859" y="5514746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000000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3341218" y="5629046"/>
            <a:ext cx="133502" cy="15270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491886" y="5391302"/>
            <a:ext cx="2247595" cy="629107"/>
          </a:xfrm>
          <a:prstGeom prst="roundRect">
            <a:avLst>
              <a:gd name="adj" fmla="val 8809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5615330" y="5514746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29630" y="5629046"/>
            <a:ext cx="152705" cy="152705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4000" r="-4000"/>
          <a:stretch/>
        </p:blipFill>
        <p:spPr>
          <a:xfrm>
            <a:off x="694944" y="5119726"/>
            <a:ext cx="123444" cy="1143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95198" y="5105095"/>
            <a:ext cx="23527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UPGRADE CATEGORIES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314907" y="5533949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 Speed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314907" y="5715000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속도 증가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3712464" y="5533949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Fire Rate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3712464" y="5715000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연사 쿨타임 감소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6110935" y="5533949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Attack Power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6110935" y="5715000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데미지 증가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09905" y="1800454"/>
            <a:ext cx="2743200" cy="2438705"/>
          </a:xfrm>
          <a:prstGeom prst="roundRect">
            <a:avLst>
              <a:gd name="adj" fmla="val 1758"/>
            </a:avLst>
          </a:prstGeom>
          <a:solidFill>
            <a:srgbClr val="14141E">
              <a:alpha val="80000"/>
            </a:srgbClr>
          </a:solidFill>
          <a:ln w="25400">
            <a:solidFill>
              <a:srgbClr val="FFFF00"/>
            </a:solidFill>
            <a:prstDash val="solid"/>
          </a:ln>
          <a:effectLst>
            <a:outerShdw blurRad="190500" dist="12700" dir="2700000" algn="bl" rotWithShape="0">
              <a:srgbClr val="FFFF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9"/>
          <p:cNvSpPr/>
          <p:nvPr/>
        </p:nvSpPr>
        <p:spPr>
          <a:xfrm>
            <a:off x="1600200" y="2104949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78350F">
              <a:alpha val="40000"/>
            </a:srgbClr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l="-27" r="-27"/>
          <a:stretch/>
        </p:blipFill>
        <p:spPr>
          <a:xfrm>
            <a:off x="1766621" y="2314346"/>
            <a:ext cx="428854" cy="3429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209751" y="3066898"/>
            <a:ext cx="16724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BBF2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EARN GOLD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1471270" y="3362249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게임을 플레이하며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185977" y="3552444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스테이지 클리어로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1452982" y="3743554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골드를 획득합니다.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3543300" y="3000146"/>
            <a:ext cx="990295" cy="38405"/>
          </a:xfrm>
          <a:prstGeom prst="rect">
            <a:avLst/>
          </a:prstGeom>
          <a:solidFill>
            <a:srgbClr val="FFFF00"/>
          </a:solidFill>
          <a:ln/>
          <a:effectLst>
            <a:outerShdw blurRad="101600" dist="12700" dir="16200000" algn="bl" rotWithShape="0">
              <a:srgbClr val="FFFF00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5"/>
          <p:cNvSpPr/>
          <p:nvPr/>
        </p:nvSpPr>
        <p:spPr>
          <a:xfrm>
            <a:off x="4724705" y="1800454"/>
            <a:ext cx="2743200" cy="2438705"/>
          </a:xfrm>
          <a:prstGeom prst="roundRect">
            <a:avLst>
              <a:gd name="adj" fmla="val 1758"/>
            </a:avLst>
          </a:prstGeom>
          <a:solidFill>
            <a:srgbClr val="14141E">
              <a:alpha val="80000"/>
            </a:srgbClr>
          </a:solidFill>
          <a:ln w="25400">
            <a:solidFill>
              <a:srgbClr val="34D399"/>
            </a:solidFill>
            <a:prstDash val="solid"/>
          </a:ln>
          <a:effectLst>
            <a:outerShdw blurRad="139700" dist="12700" dir="16200000" algn="bl" rotWithShape="0">
              <a:srgbClr val="39FF14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6"/>
          <p:cNvSpPr/>
          <p:nvPr/>
        </p:nvSpPr>
        <p:spPr>
          <a:xfrm>
            <a:off x="5715000" y="2104949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064E3B">
              <a:alpha val="40000"/>
            </a:srgbClr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 l="-607" r="-607"/>
          <a:stretch/>
        </p:blipFill>
        <p:spPr>
          <a:xfrm>
            <a:off x="5900623" y="2314346"/>
            <a:ext cx="390449" cy="3429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5238598" y="3066898"/>
            <a:ext cx="18434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4D399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ENTER SHOP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5393131" y="3362249"/>
            <a:ext cx="1510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메뉴의 'SHOP' 버튼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5610758" y="3552444"/>
            <a:ext cx="1071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게임 오버 후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5567782" y="3743554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상점에 입장합니다.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7658100" y="3000146"/>
            <a:ext cx="990295" cy="38405"/>
          </a:xfrm>
          <a:prstGeom prst="rect">
            <a:avLst/>
          </a:prstGeom>
          <a:solidFill>
            <a:srgbClr val="39FF14"/>
          </a:solidFill>
          <a:ln/>
          <a:effectLst>
            <a:outerShdw blurRad="101600" dist="12700" dir="16200000" algn="bl" rotWithShape="0">
              <a:srgbClr val="39FF14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2"/>
          <p:cNvSpPr/>
          <p:nvPr/>
        </p:nvSpPr>
        <p:spPr>
          <a:xfrm>
            <a:off x="8839505" y="1800454"/>
            <a:ext cx="2743200" cy="2438705"/>
          </a:xfrm>
          <a:prstGeom prst="roundRect">
            <a:avLst>
              <a:gd name="adj" fmla="val 1758"/>
            </a:avLst>
          </a:prstGeom>
          <a:solidFill>
            <a:srgbClr val="14141E">
              <a:alpha val="80000"/>
            </a:srgbClr>
          </a:solidFill>
          <a:ln w="25400">
            <a:solidFill>
              <a:srgbClr val="E5E7EB"/>
            </a:solidFill>
            <a:prstDash val="solid"/>
          </a:ln>
          <a:effectLst>
            <a:outerShdw blurRad="139700" dist="12700" dir="16200000" algn="bl" rotWithShape="0">
              <a:srgbClr val="00FFFF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3"/>
          <p:cNvSpPr/>
          <p:nvPr/>
        </p:nvSpPr>
        <p:spPr>
          <a:xfrm>
            <a:off x="9829800" y="2104949"/>
            <a:ext cx="761695" cy="761695"/>
          </a:xfrm>
          <a:prstGeom prst="roundRect">
            <a:avLst>
              <a:gd name="adj" fmla="val 120048"/>
            </a:avLst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039198" y="2314346"/>
            <a:ext cx="342900" cy="34290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9610344" y="3066898"/>
            <a:ext cx="1329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UPGRADE</a:t>
            </a:r>
            <a:endParaRPr lang="en-US" sz="1300" dirty="0"/>
          </a:p>
        </p:txBody>
      </p:sp>
      <p:sp>
        <p:nvSpPr>
          <p:cNvPr id="55" name="Text 45"/>
          <p:cNvSpPr txBox="1"/>
          <p:nvPr/>
        </p:nvSpPr>
        <p:spPr>
          <a:xfrm>
            <a:off x="9701784" y="3362249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능력치를 구매하여</a:t>
            </a:r>
            <a:endParaRPr lang="en-US" sz="1000" dirty="0"/>
          </a:p>
        </p:txBody>
      </p:sp>
      <p:sp>
        <p:nvSpPr>
          <p:cNvPr id="56" name="Text 46"/>
          <p:cNvSpPr txBox="1"/>
          <p:nvPr/>
        </p:nvSpPr>
        <p:spPr>
          <a:xfrm>
            <a:off x="9701784" y="3552444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기체를 영구적으로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9885578" y="374355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강화합니다.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8280806" y="4848149"/>
            <a:ext cx="3457346" cy="1524305"/>
          </a:xfrm>
          <a:prstGeom prst="roundRect">
            <a:avLst>
              <a:gd name="adj" fmla="val 2999"/>
            </a:avLst>
          </a:prstGeom>
          <a:solidFill>
            <a:srgbClr val="111827">
              <a:alpha val="60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FFFF">
                <a:alpha val="216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1">
            <a:alphaModFix amt="20000"/>
          </a:blip>
          <a:srcRect l="-469" r="-469"/>
          <a:stretch/>
        </p:blipFill>
        <p:spPr>
          <a:xfrm>
            <a:off x="11144707" y="4934102"/>
            <a:ext cx="504749" cy="571500"/>
          </a:xfrm>
          <a:prstGeom prst="rect">
            <a:avLst/>
          </a:prstGeom>
        </p:spPr>
      </p:pic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8518550" y="5119726"/>
            <a:ext cx="114300" cy="114300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8708746" y="5105095"/>
            <a:ext cx="1219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DATA SAVE</a:t>
            </a:r>
            <a:endParaRPr lang="en-US" sz="900" dirty="0"/>
          </a:p>
        </p:txBody>
      </p:sp>
      <p:sp>
        <p:nvSpPr>
          <p:cNvPr id="62" name="Text 50"/>
          <p:cNvSpPr txBox="1"/>
          <p:nvPr/>
        </p:nvSpPr>
        <p:spPr>
          <a:xfrm>
            <a:off x="8518550" y="5400446"/>
            <a:ext cx="1548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localStorage 연동</a:t>
            </a:r>
            <a:endParaRPr lang="en-US" sz="1300" dirty="0"/>
          </a:p>
        </p:txBody>
      </p:sp>
      <p:sp>
        <p:nvSpPr>
          <p:cNvPr id="63" name="Text 51"/>
          <p:cNvSpPr txBox="1"/>
          <p:nvPr/>
        </p:nvSpPr>
        <p:spPr>
          <a:xfrm>
            <a:off x="8518550" y="5743346"/>
            <a:ext cx="301477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브라우저를 닫거나 새로고침해도 보유 GOLD 및 업그레이드 레벨이 유지됩니다.</a:t>
            </a:r>
            <a:endParaRPr lang="en-US" sz="1000" dirty="0"/>
          </a:p>
        </p:txBody>
      </p:sp>
      <p:sp>
        <p:nvSpPr>
          <p:cNvPr id="64" name="Shape 52"/>
          <p:cNvSpPr/>
          <p:nvPr/>
        </p:nvSpPr>
        <p:spPr>
          <a:xfrm>
            <a:off x="485546" y="1676095"/>
            <a:ext cx="381305" cy="381305"/>
          </a:xfrm>
          <a:prstGeom prst="ellipse">
            <a:avLst/>
          </a:prstGeom>
          <a:solidFill>
            <a:srgbClr val="05051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3"/>
          <p:cNvSpPr txBox="1"/>
          <p:nvPr/>
        </p:nvSpPr>
        <p:spPr>
          <a:xfrm>
            <a:off x="609905" y="1766621"/>
            <a:ext cx="234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BBF24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1</a:t>
            </a:r>
            <a:endParaRPr lang="en-US" sz="1000" dirty="0"/>
          </a:p>
        </p:txBody>
      </p:sp>
      <p:sp>
        <p:nvSpPr>
          <p:cNvPr id="66" name="Shape 54"/>
          <p:cNvSpPr/>
          <p:nvPr/>
        </p:nvSpPr>
        <p:spPr>
          <a:xfrm>
            <a:off x="4600346" y="1676095"/>
            <a:ext cx="381305" cy="381305"/>
          </a:xfrm>
          <a:prstGeom prst="ellipse">
            <a:avLst/>
          </a:prstGeom>
          <a:solidFill>
            <a:srgbClr val="05051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55"/>
          <p:cNvSpPr txBox="1"/>
          <p:nvPr/>
        </p:nvSpPr>
        <p:spPr>
          <a:xfrm>
            <a:off x="4724705" y="1766621"/>
            <a:ext cx="234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D399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2</a:t>
            </a:r>
            <a:endParaRPr lang="en-US" sz="1000" dirty="0"/>
          </a:p>
        </p:txBody>
      </p:sp>
      <p:sp>
        <p:nvSpPr>
          <p:cNvPr id="68" name="Shape 56"/>
          <p:cNvSpPr/>
          <p:nvPr/>
        </p:nvSpPr>
        <p:spPr>
          <a:xfrm>
            <a:off x="8715146" y="1676095"/>
            <a:ext cx="381305" cy="381305"/>
          </a:xfrm>
          <a:prstGeom prst="ellipse">
            <a:avLst/>
          </a:prstGeom>
          <a:solidFill>
            <a:srgbClr val="05051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57"/>
          <p:cNvSpPr txBox="1"/>
          <p:nvPr/>
        </p:nvSpPr>
        <p:spPr>
          <a:xfrm>
            <a:off x="8839505" y="1766621"/>
            <a:ext cx="234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3</a:t>
            </a:r>
            <a:endParaRPr lang="en-US" sz="1000" dirty="0"/>
          </a:p>
        </p:txBody>
      </p:sp>
      <p:sp>
        <p:nvSpPr>
          <p:cNvPr id="70" name="Text 58"/>
          <p:cNvSpPr txBox="1"/>
          <p:nvPr/>
        </p:nvSpPr>
        <p:spPr>
          <a:xfrm>
            <a:off x="9402775" y="6486754"/>
            <a:ext cx="24195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SYSTEM: UPGRADE_MODULE_V1.0 LOADED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10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2438705" y="6858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753905" y="1028700"/>
            <a:ext cx="28346" cy="28346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8895" y="2743200"/>
            <a:ext cx="19202" cy="19202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4800600"/>
            <a:ext cx="19202" cy="19202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6305" y="1714500"/>
            <a:ext cx="9144" cy="9144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28346" cy="28346"/>
          </a:xfrm>
          <a:prstGeom prst="ellipse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0" y="5829300"/>
            <a:ext cx="19202" cy="19202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46720" y="2263140"/>
            <a:ext cx="19202" cy="1920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13893" y="454739"/>
            <a:ext cx="6191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 err="1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향후</a:t>
            </a:r>
            <a:r>
              <a:rPr lang="en-US" sz="36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계획</a:t>
            </a:r>
            <a:r>
              <a:rPr lang="en-US" sz="36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</a:t>
            </a:r>
            <a:endParaRPr lang="en-US" sz="36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alphaModFix amt="17000"/>
          </a:blip>
          <a:srcRect l="-2571" r="-2571"/>
          <a:stretch/>
        </p:blipFill>
        <p:spPr>
          <a:xfrm>
            <a:off x="9610344" y="1061618"/>
            <a:ext cx="105156" cy="114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791395" y="1047902"/>
            <a:ext cx="2039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>
                    <a:alpha val="17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AUTO SAVE ENABLED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70171" y="1485900"/>
            <a:ext cx="5447995" cy="4724705"/>
          </a:xfrm>
          <a:prstGeom prst="roundRect">
            <a:avLst>
              <a:gd name="adj" fmla="val 468"/>
            </a:avLst>
          </a:prstGeom>
          <a:solidFill>
            <a:srgbClr val="0A0A14">
              <a:alpha val="85000"/>
            </a:srgbClr>
          </a:solidFill>
          <a:ln w="25400">
            <a:solidFill>
              <a:srgbClr val="BC13FE"/>
            </a:solidFill>
            <a:prstDash val="solid"/>
          </a:ln>
          <a:effectLst>
            <a:outerShdw blurRad="190500" dist="12700" dir="2700000" algn="bl" rotWithShape="0">
              <a:srgbClr val="BC13FE">
                <a:alpha val="20000"/>
              </a:srgbClr>
            </a:outerShdw>
          </a:effectLst>
        </p:spPr>
        <p:txBody>
          <a:bodyPr/>
          <a:lstStyle/>
          <a:p>
            <a:pPr algn="ctr"/>
            <a:endParaRPr lang="ko-KR" altLang="en-US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10198" y="1848002"/>
            <a:ext cx="190195" cy="19019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915607" y="1809598"/>
            <a:ext cx="24295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C13FE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FUTURE PLANS</a:t>
            </a:r>
            <a:endParaRPr lang="en-US" sz="1500" dirty="0"/>
          </a:p>
        </p:txBody>
      </p:sp>
      <p:sp>
        <p:nvSpPr>
          <p:cNvPr id="37" name="Shape 28"/>
          <p:cNvSpPr/>
          <p:nvPr/>
        </p:nvSpPr>
        <p:spPr>
          <a:xfrm>
            <a:off x="6610198" y="2381098"/>
            <a:ext cx="4800600" cy="705002"/>
          </a:xfrm>
          <a:prstGeom prst="roundRect">
            <a:avLst>
              <a:gd name="adj" fmla="val 7011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9"/>
          <p:cNvSpPr/>
          <p:nvPr/>
        </p:nvSpPr>
        <p:spPr>
          <a:xfrm>
            <a:off x="6772046" y="2542946"/>
            <a:ext cx="190195" cy="190195"/>
          </a:xfrm>
          <a:prstGeom prst="rect">
            <a:avLst/>
          </a:prstGeom>
          <a:noFill/>
          <a:ln w="254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0"/>
          <p:cNvSpPr/>
          <p:nvPr/>
        </p:nvSpPr>
        <p:spPr>
          <a:xfrm>
            <a:off x="6610198" y="3314700"/>
            <a:ext cx="4800600" cy="705002"/>
          </a:xfrm>
          <a:prstGeom prst="roundRect">
            <a:avLst>
              <a:gd name="adj" fmla="val 7011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1"/>
          <p:cNvSpPr/>
          <p:nvPr/>
        </p:nvSpPr>
        <p:spPr>
          <a:xfrm>
            <a:off x="6772046" y="3476549"/>
            <a:ext cx="190195" cy="190195"/>
          </a:xfrm>
          <a:prstGeom prst="rect">
            <a:avLst/>
          </a:prstGeom>
          <a:noFill/>
          <a:ln w="254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6610198" y="4248302"/>
            <a:ext cx="4800600" cy="705002"/>
          </a:xfrm>
          <a:prstGeom prst="roundRect">
            <a:avLst>
              <a:gd name="adj" fmla="val 7011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3"/>
          <p:cNvSpPr/>
          <p:nvPr/>
        </p:nvSpPr>
        <p:spPr>
          <a:xfrm>
            <a:off x="6772046" y="4410151"/>
            <a:ext cx="190195" cy="190195"/>
          </a:xfrm>
          <a:prstGeom prst="rect">
            <a:avLst/>
          </a:prstGeom>
          <a:noFill/>
          <a:ln w="254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4"/>
          <p:cNvSpPr/>
          <p:nvPr/>
        </p:nvSpPr>
        <p:spPr>
          <a:xfrm>
            <a:off x="6610198" y="5181905"/>
            <a:ext cx="4800600" cy="705002"/>
          </a:xfrm>
          <a:prstGeom prst="roundRect">
            <a:avLst>
              <a:gd name="adj" fmla="val 7011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5"/>
          <p:cNvSpPr/>
          <p:nvPr/>
        </p:nvSpPr>
        <p:spPr>
          <a:xfrm>
            <a:off x="6772046" y="5343754"/>
            <a:ext cx="190195" cy="190195"/>
          </a:xfrm>
          <a:prstGeom prst="rect">
            <a:avLst/>
          </a:prstGeom>
          <a:noFill/>
          <a:ln w="254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6"/>
          <p:cNvSpPr txBox="1"/>
          <p:nvPr/>
        </p:nvSpPr>
        <p:spPr>
          <a:xfrm>
            <a:off x="7077456" y="2562149"/>
            <a:ext cx="1467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AUDIO SYSTEM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7077456" y="2734056"/>
            <a:ext cx="3119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배경음악(BGM) 및 레이저 발사/폭발 효과음(SFX) 추가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7077456" y="3495751"/>
            <a:ext cx="2039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ADVANCED PATTERNS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7077456" y="3666744"/>
            <a:ext cx="27386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탄막 슈팅 요소 강화 (원형 발사, 유도 미사일 등)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7077456" y="4429354"/>
            <a:ext cx="1467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SKILL SYSTEM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7077456" y="4600346"/>
            <a:ext cx="2653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 탈출용 '전멸 폭탄' 및 일시적 파워업 스킬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7077456" y="5362956"/>
            <a:ext cx="1696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ONLINE RANKING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7077456" y="5533949"/>
            <a:ext cx="2852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Firebase 연동을 통한 전 세계 플레이어 점수 경쟁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790</Words>
  <Application>Microsoft Office PowerPoint</Application>
  <PresentationFormat>와이드스크린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Black Han Sans</vt:lpstr>
      <vt:lpstr>Noto Sans KR</vt:lpstr>
      <vt:lpstr>Press Start 2P</vt:lpstr>
      <vt:lpstr>ui-monospace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효빈 송</cp:lastModifiedBy>
  <cp:revision>4</cp:revision>
  <dcterms:created xsi:type="dcterms:W3CDTF">2025-12-12T03:40:33Z</dcterms:created>
  <dcterms:modified xsi:type="dcterms:W3CDTF">2025-12-12T04:42:58Z</dcterms:modified>
</cp:coreProperties>
</file>